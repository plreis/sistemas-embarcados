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Relógio e alarme com FreeRTOS</a:t>
            </a:r>
          </a:p>
          <a:p/>
          <a:p>
            <a:r>
              <a:t>Tempo sugerido: 30 s</a:t>
            </a:r>
          </a:p>
          <a:p/>
          <a:p>
            <a:r>
              <a:t>Apresentar o produto como um relógio autônomo configurado pelo joystick. Explicar que o computador fornece somente alimentação durante a operação. Anunciar as três decisões que orientam a apresentação: separar tarefas, concentrar o estado no controlador e usar Timer1 para a contagem do calendário. A foto mostra o protótipo utilizado na apresentação.</a:t>
            </a:r>
          </a:p>
          <a:p/>
          <a:p>
            <a:r>
              <a:t>Ponto para a arguição: Não confundir operação autônoma com referência de tempo de alta exatidão.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Requisitos e produto</a:t>
            </a:r>
          </a:p>
          <a:p/>
          <a:p>
            <a:r>
              <a:t>Tempo sugerido: 40 s</a:t>
            </a:r>
          </a:p>
          <a:p/>
          <a:p>
            <a:r>
              <a:t>Relacionar cada função ao enunciado do professor. Mostrar no protótipo o LCD, o joystick e o botão D5. A alimentação USB não fornece data e hora ao programa. O potenciômetro pertence ao contraste do LCD, não ao volume. O firmware permite ajustar segundos para acertar o horário pela interface. A operação não exige terminal nem aplicação no computador.</a:t>
            </a:r>
          </a:p>
          <a:p/>
          <a:p>
            <a:r>
              <a:t>Ponto para a arguição: A0 e A1 são constantes numéricas equivalentes a 54 e 55 no Mega; não são strings.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RTOS, bare metal e máquina de estados</a:t>
            </a:r>
          </a:p>
          <a:p/>
          <a:p>
            <a:r>
              <a:t>Tempo sugerido: 55 s</a:t>
            </a:r>
          </a:p>
          <a:p/>
          <a:p>
            <a:r>
              <a:t>Explicar que uma solução bare metal bem projetada também poderia atender ao problema. O RTOS foi solicitado no exame e permite atribuir responsabilidades e prioridades explícitas. Quando o alarme fica pronto, ele pode interromper a apresentação no LCD. A máquina de estados continua presente dentro do controlador para decidir o significado de cada evento. O RTOS não aumenta a frequência da CPU nem melhora sozinho a precisão do oscilador.</a:t>
            </a:r>
          </a:p>
          <a:p/>
          <a:p>
            <a:r>
              <a:t>Ponto para a arguição: Preempção é a retirada da CPU de uma tarefa pronta de menor prioridade quando outra de maior prioridade deve executar.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Arquitetura por eventos</a:t>
            </a:r>
          </a:p>
          <a:p/>
          <a:p>
            <a:r>
              <a:t>Tempo sugerido: 60 s</a:t>
            </a:r>
          </a:p>
          <a:p/>
          <a:p>
            <a:r>
              <a:t>Percorrer as setas da esquerda para a direita. A tarefa de botões produz um evento, como Selecionar ou Soneca. Somente a tarefa de relógio decide como esse evento muda o estado. Ela envia ao alarme um booleano e ao display uma cópia consistente do estado. A ISR incrementa um contador; o controlador o lê atomicamente. O termo dono único se refere ao estado civil, não à ausência de toda variável global no programa. Os handles das filas e o contador da ISR continuam existindo.</a:t>
            </a:r>
          </a:p>
          <a:p/>
          <a:p>
            <a:r>
              <a:t>Ponto para a arguição: Copiar uma estrutura pela fila só isola os dados se ela não depender de ponteiros para objetos mutáveis externos; o snapshot deste projeto contém dados por valor.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Tarefas e prioridades</a:t>
            </a:r>
          </a:p>
          <a:p/>
          <a:p>
            <a:r>
              <a:t>Tempo sugerido: 55 s</a:t>
            </a:r>
          </a:p>
          <a:p/>
          <a:p>
            <a:r>
              <a:t>Justificar a prioridade 3 do alarme pela resposta à ativação e ao desligamento. Explicar que ele fica bloqueado quando inativo e aguarda a próxima fase quando está tocando. Relógio e botões têm prioridade 2; o port habilita divisão de tempo entre tarefas prontas de mesma prioridade. O display tem prioridade 1 e pode ser preemptado. A prioridade não é uma porcentagem reservada de CPU. A espera em fila entrega a CPU a outra tarefa; ela não é busy waiting.</a:t>
            </a:r>
          </a:p>
          <a:p/>
          <a:p>
            <a:r>
              <a:t>Ponto para a arguição: O display não retém um mutex de aplicação que a tarefa de relógio precise adquirir.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Mutex versus filas</a:t>
            </a:r>
          </a:p>
          <a:p/>
          <a:p>
            <a:r>
              <a:t>Tempo sugerido: 65 s</a:t>
            </a:r>
          </a:p>
          <a:p/>
          <a:p>
            <a:r>
              <a:t>Explicar que o mutex é adequado quando há um recurso realmente compartilhado. O problema não é a existência do mutex, mas a duração e a disciplina da exclusividade. A herança de prioridade reduz a interferência de tarefas intermediárias quando alguém de maior prioridade espera pelo recurso. Nesta arquitetura, o display recebe uma cópia e não segura um lock necessário ao controle. A fila de entrada preserva ordem; as caixas de saída substituem dados antigos porque o consumidor precisa do estado atual.</a:t>
            </a:r>
          </a:p>
          <a:p/>
          <a:p>
            <a:r>
              <a:t>Ponto para a arguição: Uma fila não garante ausência de toda condição de corrida. A segurança aqui depende de dono único, cópia de dados, atomicidade na ISR e política explícita para fila cheia.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Domínios temporais</a:t>
            </a:r>
          </a:p>
          <a:p/>
          <a:p>
            <a:r>
              <a:t>Tempo sugerido: 65 s</a:t>
            </a:r>
          </a:p>
          <a:p/>
          <a:p>
            <a:r>
              <a:t>Distinguir o timer do escalonador da referência usada para avançar o calendário. O watchdog permanece no tick do FreeRTOS. Timer1 utiliza o clock principal da placa em CTC, a 100 Hz nominal. Timer0 mantém millis e micros do Arduino e aparece no diagnóstico. Timer2 é usado por tone para o buzzer. O firmware não usa Timer0 como um RTC de calendário. Trocar para uma biblioteca de RTC no Timer2 exigiria tratar o conflito com tone.</a:t>
            </a:r>
          </a:p>
          <a:p/>
          <a:p>
            <a:r>
              <a:t>Ponto para a arguição: pdMS_TO_TICKS(20) produz um tick nesta configuração de 62 Hz; isso não transforma o período físico em exatamente 20 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Timer1 e atomicidade</a:t>
            </a:r>
          </a:p>
          <a:p/>
          <a:p>
            <a:r>
              <a:t>Tempo sugerido: 65 s</a:t>
            </a:r>
          </a:p>
          <a:p/>
          <a:p>
            <a:r>
              <a:t>Apresentar a fórmula do CTC e apontar que todos os valores são nominais. A ISR faz apenas o incremento, mantendo baixo o trabalho em interrupção. No AVR, a leitura de quatro bytes pode ser interrompida entre bytes; volatile não resolve isso. ATOMIC_RESTORESTATE protege somente a cópia e restaura o estado anterior. O controlador usa a subtração unsigned para recuperar as contagens desde a amostra anterior, inclusive atravessando rollover. Um atraso no agendamento não precisa se tornar perda de segundos.</a:t>
            </a:r>
          </a:p>
          <a:p/>
          <a:p>
            <a:r>
              <a:t>Ponto para a arguição: Esse mecanismo recupera contagens registradas. Não reconstrói interrupções perdidas se o hardware deixar de distingui-las durante um bloqueio excessivo.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Entrada e edição</a:t>
            </a:r>
          </a:p>
          <a:p/>
          <a:p>
            <a:r>
              <a:t>Tempo sugerido: 55 s</a:t>
            </a:r>
          </a:p>
          <a:p/>
          <a:p>
            <a:r>
              <a:t>Mostrar a foto da edição de segundos e a do horário do alarme. A tarefa de botões filtra a entrada e gera eventos sem decidir a regra do menu. O rascunho fica separado do relógio corrente. Salvar apenas o alarme mantém a hora que continuou avançando; salvar uma alteração da hora aplica o valor escolhido e reinicia a fração civil. O clique curto de SEL é emitido na soltura e o longo não gera um curto adicional.</a:t>
            </a:r>
          </a:p>
          <a:p/>
          <a:p>
            <a:r>
              <a:t>Ponto para a arguição: Os 50 ms de debounce são estabilidade observada na base Timer1, não apenas um delay depois de qualquer leitura.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Alarme e soneca</a:t>
            </a:r>
          </a:p>
          <a:p/>
          <a:p>
            <a:r>
              <a:t>Tempo sugerido: 65 s</a:t>
            </a:r>
          </a:p>
          <a:p/>
          <a:p>
            <a:r>
              <a:t>Percorrer os estados. No segundo zero do horário habilitado, o controlador inicia o toque. D5 ou SEL curto inicia a mesma soneca configurada. A contagem é relativa, por isso a meia-noite não quebra a comparação. O exemplo de 60 segundos usa a configuração mínima de um minuto; o padrão é cinco minutos. Cada toque termina em até 60 segundos. A repetição da soneca requer novo acionamento; ela não se repete automaticamente para sempre.</a:t>
            </a:r>
          </a:p>
          <a:p/>
          <a:p>
            <a:r>
              <a:t>Ponto para a arguição: D5 durante a soneca cancela e desabilita o alarme. SEL longo encerra o aviso, mas preserva a habilitação diária. A chave de ocorrência evita redisparo no mesmo minuto e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Precisão e exatidão</a:t>
            </a:r>
          </a:p>
          <a:p/>
          <a:p>
            <a:r>
              <a:t>Tempo sugerido: 60 s</a:t>
            </a:r>
          </a:p>
          <a:p/>
          <a:p>
            <a:r>
              <a:t>Explicar que prioridade organiza resposta da CPU; ela não calibra o oscilador. A diferença observada na aferição para apresentação não determina sozinha a deriva. Para medir deriva, compara-se a mudança do erro em um intervalo conhecido. Timer1 usa o oscilador principal e pode adiantar ou atrasar. Uma melhoria de referência poderia usar RTC externo ou Timer2 assíncrono com cristal apropriado, mas não faz parte desta montagem. Não apresentar essa alternativa como algo implementado.</a:t>
            </a:r>
          </a:p>
          <a:p/>
          <a:p>
            <a:r>
              <a:t>Ponto para a arguição: Timer2 assíncrono não é a única solução e também tem tolerância. A montagem atual não dispõe de sincronização automática com uma fonte independente de horário.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Resultados e verificação</a:t>
            </a:r>
          </a:p>
          <a:p/>
          <a:p>
            <a:r>
              <a:t>Tempo sugerido: 55 s</a:t>
            </a:r>
          </a:p>
          <a:p/>
          <a:p>
            <a:r>
              <a:t>Apresentar a evidência adequada para cada conclusão. As fotos mostram a montagem e a interface; a compilação confirma a construção para ATmega2560; os testes verificam a lógica extraída do próprio sketch. O teste de seis horas trabalha com 2.160.000 contagens nominais, não é uma certificação de deriva física de seis horas. O consumo estático de 729 bytes não inclui todas as alocações do kernel. A integração mantém verificações de criação de recursos e diagnóstico de margem de pilha.</a:t>
            </a:r>
          </a:p>
          <a:p/>
          <a:p>
            <a:r>
              <a:t>Ponto para a arguição: Não transformar o número de bytes estáticos em uma afirmação de memória total livre; há pilhas, filas, TCBs e outras estruturas em execução.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Conclusão e demonstração</a:t>
            </a:r>
          </a:p>
          <a:p/>
          <a:p>
            <a:r>
              <a:t>Tempo sugerido: 40 s + demonstração</a:t>
            </a:r>
          </a:p>
          <a:p/>
          <a:p>
            <a:r>
              <a:t>Concluir com os três pontos centrais: um dono para o estado, comunicação por mensagens e separação das bases de tempo. Na bancada, abrir a edição, navegar até o horário do alarme, configurá-lo para o próximo minuto e salvar. Habilitar pelo D5 na tela normal. Enquanto aguarda, mostrar que o relógio continua avançando. No disparo, pressionar D5 para exibir a soneca. Encerrar com SEL longo, ou explicar que D5 durante a soneca também desabilita o alarme. Não reinicializar a placa durante a demonstração, pois a configuração é volátil.</a:t>
            </a:r>
          </a:p>
          <a:p/>
          <a:p>
            <a:r>
              <a:t>Ponto para a arguição: Para uma demonstração curta, configurar soneca de um minuto. A exposição não precisa esperar todo esse minuto: pode mostrar a contagem e encerrar o aviso.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Apoio: registradores</a:t>
            </a:r>
          </a:p>
          <a:p/>
          <a:p>
            <a:r>
              <a:t>Tempo sugerido: Consultar se solicitado</a:t>
            </a:r>
          </a:p>
          <a:p/>
          <a:p>
            <a:r>
              <a:t>Explicar a ordem de inicialização: parar o clock, desabilitar interrupção do periférico, limpar controle e contador, configurar comparação, limpar flag, habilitar interrupção e ligar o timer. A sequência ocorre em bloco atômico antes das tarefas. Para prescaler 1024 e OCR1A 15624, a divisão nominal seria 1 Hz, mas a unidade de todos os contadores teria de ser revista. Como a fonte de clock continuaria a mesma, a tolerância física também permaneceria.</a:t>
            </a:r>
          </a:p>
          <a:p/>
          <a:p>
            <a:r>
              <a:t>Ponto para a arguição: F_CPU é uma constante de compilação, não uma medição automática da frequência real da placa.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Apoio: perguntas da banca</a:t>
            </a:r>
          </a:p>
          <a:p/>
          <a:p>
            <a:r>
              <a:t>Tempo sugerido: Consultar se solicitado</a:t>
            </a:r>
          </a:p>
          <a:p/>
          <a:p>
            <a:r>
              <a:t>Esclarecer que ausência de mutex compartilhado remove aquele caminho de inversão de prioridade, sem prometer latência nula ou impossibilidade de qualquer defeito. As filas possuem proteção interna e capacidade finita. O snapshot de saída pode substituir outro porque interessa o estado atual. A notificação contadora registra evento de entrada descartado. O high-water mark informa a menor margem de pilha observada no percurso executado, não uma prova de todos os percursos possíveis.</a:t>
            </a:r>
          </a:p>
          <a:p/>
          <a:p>
            <a:r>
              <a:t>Ponto para a arguição: StackType_t é uint8_t no port AVR usado: profundidade 512 corresponde a 512 bytes. Alarme 256 + relógio 512 + botões 288 + display 512 = 1.568 bytes.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Referências</a:t>
            </a:r>
          </a:p>
          <a:p/>
          <a:p>
            <a:r>
              <a:t>Tempo sugerido: Consultar se solicitado</a:t>
            </a:r>
          </a:p>
          <a:p/>
          <a:p>
            <a:r>
              <a:t>O repositório reúne o relatório, o firmware consolidado, as fotos originais e as versões anteriores. A pasta referencias preserva os excertos reais do FreeRTOS e a origem dos trechos. A apresentação usa o mesmo conteúdo técnico da entrega e mantém a distinção entre comportamento do software, observação do produto e precisão da referência física.</a:t>
            </a:r>
          </a:p>
          <a:p/>
          <a:p>
            <a:r>
              <a:t>Ponto para a arguição: O relatório possui as referências completas e a comparação entre a versão com mutex e a versão por eventos.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plreis/Sistemas-Embarcados/blob/main/documentos/Suficiencia_2026_2.pdf" TargetMode="External"/><Relationship Id="rId3" Type="http://schemas.openxmlformats.org/officeDocument/2006/relationships/hyperlink" Target="https://github.com/feilipu/Arduino_FreeRTOS_Library" TargetMode="External"/><Relationship Id="rId4" Type="http://schemas.openxmlformats.org/officeDocument/2006/relationships/hyperlink" Target="https://github.com/arduino/ArduinoCore-avr" TargetMode="External"/><Relationship Id="rId5" Type="http://schemas.openxmlformats.org/officeDocument/2006/relationships/hyperlink" Target="https://avrdudes.github.io/avr-libc/avr-libc-user-manual/group__util__atomic.html" TargetMode="External"/><Relationship Id="rId6" Type="http://schemas.openxmlformats.org/officeDocument/2006/relationships/hyperlink" Target="https://github.com/plreis/Sistemas-Embarcados" TargetMode="External"/><Relationship Id="rId7"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F6C644"/>
                </a:solidFill>
                <a:latin typeface="DejaVu Sans"/>
              </a:defRPr>
            </a:pPr>
            <a:r>
              <a:t>EXAME DE SUFICIÊNCIA · 2026.2</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FFFFFF"/>
                </a:solidFill>
                <a:latin typeface="DejaVu Sans"/>
              </a:defRPr>
            </a:pPr>
            <a:r>
              <a:t>Relógio e alarme com FreeRTOS</a:t>
            </a:r>
          </a:p>
        </p:txBody>
      </p:sp>
      <p:sp>
        <p:nvSpPr>
          <p:cNvPr id="5" name="Rectangle 4"/>
          <p:cNvSpPr/>
          <p:nvPr/>
        </p:nvSpPr>
        <p:spPr>
          <a:xfrm>
            <a:off x="548640" y="6409944"/>
            <a:ext cx="11064240" cy="10972"/>
          </a:xfrm>
          <a:prstGeom prst="rect">
            <a:avLst/>
          </a:prstGeom>
          <a:solidFill>
            <a:srgbClr val="4B62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CBD8E3"/>
                </a:solidFill>
                <a:latin typeface="DejaVu Sans"/>
              </a:defRPr>
            </a:pPr>
            <a:r>
              <a:t>UTFPR Apucarana  •  Sistemas Embarcados  •  Pedro Reis</a:t>
            </a:r>
          </a:p>
        </p:txBody>
      </p:sp>
      <p:sp>
        <p:nvSpPr>
          <p:cNvPr id="7" name="TextBox 6"/>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CBD8E3"/>
                </a:solidFill>
                <a:latin typeface="DejaVu Sans"/>
              </a:defRPr>
            </a:pPr>
            <a:r>
              <a:t>01  /  16</a:t>
            </a:r>
          </a:p>
        </p:txBody>
      </p:sp>
      <p:sp>
        <p:nvSpPr>
          <p:cNvPr id="8" name="Rounded Rectangle 7"/>
          <p:cNvSpPr/>
          <p:nvPr/>
        </p:nvSpPr>
        <p:spPr>
          <a:xfrm>
            <a:off x="566928" y="1554480"/>
            <a:ext cx="3127248" cy="329184"/>
          </a:xfrm>
          <a:prstGeom prst="roundRect">
            <a:avLst>
              <a:gd name="adj" fmla="val 10000"/>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13916"/>
            <a:ext cx="2889504" cy="228600"/>
          </a:xfrm>
          <a:prstGeom prst="rect">
            <a:avLst/>
          </a:prstGeom>
          <a:noFill/>
        </p:spPr>
        <p:txBody>
          <a:bodyPr wrap="square" lIns="0" rIns="0" tIns="0" bIns="0">
            <a:spAutoFit/>
          </a:bodyPr>
          <a:lstStyle/>
          <a:p>
            <a:pPr>
              <a:spcBef>
                <a:spcPts val="0"/>
              </a:spcBef>
              <a:spcAft>
                <a:spcPts val="800"/>
              </a:spcAft>
              <a:defRPr sz="1100" b="1">
                <a:solidFill>
                  <a:srgbClr val="142638"/>
                </a:solidFill>
                <a:latin typeface="DejaVu Sans"/>
              </a:defRPr>
            </a:pPr>
            <a:r>
              <a:t>ARDUINO MEGA 2560  ·  LCD 16×2</a:t>
            </a:r>
          </a:p>
        </p:txBody>
      </p:sp>
      <p:sp>
        <p:nvSpPr>
          <p:cNvPr id="10" name="TextBox 9"/>
          <p:cNvSpPr txBox="1"/>
          <p:nvPr/>
        </p:nvSpPr>
        <p:spPr>
          <a:xfrm>
            <a:off x="566928" y="2176272"/>
            <a:ext cx="7040880" cy="1078992"/>
          </a:xfrm>
          <a:prstGeom prst="rect">
            <a:avLst/>
          </a:prstGeom>
          <a:noFill/>
        </p:spPr>
        <p:txBody>
          <a:bodyPr wrap="square" lIns="0" rIns="0" tIns="0" bIns="0">
            <a:spAutoFit/>
          </a:bodyPr>
          <a:lstStyle/>
          <a:p>
            <a:pPr>
              <a:spcBef>
                <a:spcPts val="0"/>
              </a:spcBef>
              <a:spcAft>
                <a:spcPts val="800"/>
              </a:spcAft>
              <a:defRPr sz="3100" b="1">
                <a:solidFill>
                  <a:srgbClr val="FFFFFF"/>
                </a:solidFill>
                <a:latin typeface="DejaVu Sans"/>
              </a:defRPr>
            </a:pPr>
            <a:r>
              <a:t>Quatro tarefas.</a:t>
            </a:r>
          </a:p>
          <a:p>
            <a:pPr>
              <a:spcBef>
                <a:spcPts val="0"/>
              </a:spcBef>
              <a:spcAft>
                <a:spcPts val="800"/>
              </a:spcAft>
              <a:defRPr sz="3100" b="1">
                <a:solidFill>
                  <a:srgbClr val="FFFFFF"/>
                </a:solidFill>
                <a:latin typeface="DejaVu Sans"/>
              </a:defRPr>
            </a:pPr>
            <a:r>
              <a:t>Um único dono do estado.</a:t>
            </a:r>
          </a:p>
        </p:txBody>
      </p:sp>
      <p:sp>
        <p:nvSpPr>
          <p:cNvPr id="11" name="TextBox 10"/>
          <p:cNvSpPr txBox="1"/>
          <p:nvPr/>
        </p:nvSpPr>
        <p:spPr>
          <a:xfrm>
            <a:off x="594360" y="3584448"/>
            <a:ext cx="6492240" cy="777240"/>
          </a:xfrm>
          <a:prstGeom prst="rect">
            <a:avLst/>
          </a:prstGeom>
          <a:noFill/>
        </p:spPr>
        <p:txBody>
          <a:bodyPr wrap="square" lIns="0" rIns="0" tIns="0" bIns="0">
            <a:spAutoFit/>
          </a:bodyPr>
          <a:lstStyle/>
          <a:p>
            <a:pPr>
              <a:spcBef>
                <a:spcPts val="0"/>
              </a:spcBef>
              <a:spcAft>
                <a:spcPts val="800"/>
              </a:spcAft>
              <a:defRPr sz="2200" b="0">
                <a:solidFill>
                  <a:srgbClr val="CBD8E3"/>
                </a:solidFill>
                <a:latin typeface="DejaVu Sans"/>
              </a:defRPr>
            </a:pPr>
            <a:r>
              <a:t>Operação local, comunicação por filas</a:t>
            </a:r>
          </a:p>
          <a:p>
            <a:pPr>
              <a:spcBef>
                <a:spcPts val="0"/>
              </a:spcBef>
              <a:spcAft>
                <a:spcPts val="800"/>
              </a:spcAft>
              <a:defRPr sz="2200" b="0">
                <a:solidFill>
                  <a:srgbClr val="CBD8E3"/>
                </a:solidFill>
                <a:latin typeface="DejaVu Sans"/>
              </a:defRPr>
            </a:pPr>
            <a:r>
              <a:t>e contagem de tempo em Timer1.</a:t>
            </a:r>
          </a:p>
        </p:txBody>
      </p:sp>
      <p:sp>
        <p:nvSpPr>
          <p:cNvPr id="12" name="TextBox 11"/>
          <p:cNvSpPr txBox="1"/>
          <p:nvPr/>
        </p:nvSpPr>
        <p:spPr>
          <a:xfrm>
            <a:off x="594360" y="5020056"/>
            <a:ext cx="7132320" cy="813816"/>
          </a:xfrm>
          <a:prstGeom prst="rect">
            <a:avLst/>
          </a:prstGeom>
          <a:noFill/>
        </p:spPr>
        <p:txBody>
          <a:bodyPr wrap="square" lIns="0" rIns="0" tIns="0" bIns="0">
            <a:spAutoFit/>
          </a:bodyPr>
          <a:lstStyle/>
          <a:p>
            <a:pPr>
              <a:spcBef>
                <a:spcPts val="0"/>
              </a:spcBef>
              <a:spcAft>
                <a:spcPts val="800"/>
              </a:spcAft>
              <a:defRPr sz="1500" b="0">
                <a:solidFill>
                  <a:srgbClr val="CBD8E3"/>
                </a:solidFill>
                <a:latin typeface="DejaVu Sans"/>
              </a:defRPr>
            </a:pPr>
            <a:r>
              <a:t>Pedro Lucas dos Reis Silva  ·  RA 2272040</a:t>
            </a:r>
          </a:p>
          <a:p>
            <a:pPr>
              <a:spcBef>
                <a:spcPts val="0"/>
              </a:spcBef>
              <a:spcAft>
                <a:spcPts val="800"/>
              </a:spcAft>
              <a:defRPr sz="1500" b="0">
                <a:solidFill>
                  <a:srgbClr val="CBD8E3"/>
                </a:solidFill>
                <a:latin typeface="DejaVu Sans"/>
              </a:defRPr>
            </a:pPr>
            <a:r>
              <a:t>Engenharia de Computação · UTFPR Apucarana</a:t>
            </a:r>
          </a:p>
          <a:p>
            <a:pPr>
              <a:spcBef>
                <a:spcPts val="0"/>
              </a:spcBef>
              <a:spcAft>
                <a:spcPts val="800"/>
              </a:spcAft>
              <a:defRPr sz="1500" b="0">
                <a:solidFill>
                  <a:srgbClr val="CBD8E3"/>
                </a:solidFill>
                <a:latin typeface="DejaVu Sans"/>
              </a:defRPr>
            </a:pPr>
            <a:r>
              <a:t>Professor Adalberto Lazarini</a:t>
            </a:r>
          </a:p>
        </p:txBody>
      </p:sp>
      <p:pic>
        <p:nvPicPr>
          <p:cNvPr id="13" name="Picture 12" descr="02_alarme_habilitado.jpg"/>
          <p:cNvPicPr>
            <a:picLocks noChangeAspect="1"/>
          </p:cNvPicPr>
          <p:nvPr/>
        </p:nvPicPr>
        <p:blipFill>
          <a:blip r:embed="rId2"/>
          <a:stretch>
            <a:fillRect/>
          </a:stretch>
        </p:blipFill>
        <p:spPr>
          <a:xfrm>
            <a:off x="8643594" y="1325880"/>
            <a:ext cx="2143810" cy="476402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147D80"/>
                </a:solidFill>
                <a:latin typeface="DejaVu Sans"/>
              </a:defRPr>
            </a:pPr>
            <a:r>
              <a:t>01 · PRODUTO</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172A3A"/>
                </a:solidFill>
                <a:latin typeface="DejaVu Sans"/>
              </a:defRPr>
            </a:pPr>
            <a:r>
              <a:t>O protótipo atende aos quatro requisitos</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586977"/>
                </a:solidFill>
                <a:latin typeface="DejaVu Sans"/>
              </a:defRPr>
            </a:pPr>
            <a:r>
              <a:t>A configuração e a operação acontecem no próprio dispositivo.</a:t>
            </a:r>
          </a:p>
        </p:txBody>
      </p:sp>
      <p:sp>
        <p:nvSpPr>
          <p:cNvPr id="6" name="Rectangle 5"/>
          <p:cNvSpPr/>
          <p:nvPr/>
        </p:nvSpPr>
        <p:spPr>
          <a:xfrm>
            <a:off x="548640" y="6409944"/>
            <a:ext cx="11064240" cy="10972"/>
          </a:xfrm>
          <a:prstGeom prst="rect">
            <a:avLst/>
          </a:prstGeom>
          <a:solidFill>
            <a:srgbClr val="CCD7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586977"/>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586977"/>
                </a:solidFill>
                <a:latin typeface="DejaVu Sans"/>
              </a:defRPr>
            </a:pPr>
            <a:r>
              <a:t>02  /  16</a:t>
            </a:r>
          </a:p>
        </p:txBody>
      </p:sp>
      <p:sp>
        <p:nvSpPr>
          <p:cNvPr id="9" name="TextBox 8"/>
          <p:cNvSpPr txBox="1"/>
          <p:nvPr/>
        </p:nvSpPr>
        <p:spPr>
          <a:xfrm>
            <a:off x="548640" y="6153912"/>
            <a:ext cx="10972800" cy="182880"/>
          </a:xfrm>
          <a:prstGeom prst="rect">
            <a:avLst/>
          </a:prstGeom>
          <a:noFill/>
        </p:spPr>
        <p:txBody>
          <a:bodyPr wrap="square" lIns="0" rIns="0" tIns="0" bIns="0">
            <a:spAutoFit/>
          </a:bodyPr>
          <a:lstStyle/>
          <a:p>
            <a:pPr>
              <a:spcBef>
                <a:spcPts val="0"/>
              </a:spcBef>
              <a:spcAft>
                <a:spcPts val="800"/>
              </a:spcAft>
              <a:defRPr sz="950" b="0">
                <a:solidFill>
                  <a:srgbClr val="586977"/>
                </a:solidFill>
                <a:latin typeface="DejaVu Sans"/>
              </a:defRPr>
            </a:pPr>
            <a:r>
              <a:t>Fonte: Suficiencia_2026_2.pdf · fotografias do autor, 08/10/2026</a:t>
            </a:r>
          </a:p>
        </p:txBody>
      </p:sp>
      <p:sp>
        <p:nvSpPr>
          <p:cNvPr id="10" name="Rounded Rectangle 9"/>
          <p:cNvSpPr/>
          <p:nvPr/>
        </p:nvSpPr>
        <p:spPr>
          <a:xfrm>
            <a:off x="566928" y="1920240"/>
            <a:ext cx="3703320" cy="16276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920240"/>
            <a:ext cx="59436" cy="1627632"/>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084832"/>
            <a:ext cx="3300984"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01  Exibição local</a:t>
            </a:r>
          </a:p>
        </p:txBody>
      </p:sp>
      <p:sp>
        <p:nvSpPr>
          <p:cNvPr id="13" name="TextBox 12"/>
          <p:cNvSpPr txBox="1"/>
          <p:nvPr/>
        </p:nvSpPr>
        <p:spPr>
          <a:xfrm>
            <a:off x="768096" y="2752344"/>
            <a:ext cx="3300984" cy="658368"/>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Data e hora no LCD 16×2.</a:t>
            </a:r>
          </a:p>
        </p:txBody>
      </p:sp>
      <p:sp>
        <p:nvSpPr>
          <p:cNvPr id="14" name="Rounded Rectangle 13"/>
          <p:cNvSpPr/>
          <p:nvPr/>
        </p:nvSpPr>
        <p:spPr>
          <a:xfrm>
            <a:off x="4489704" y="1920240"/>
            <a:ext cx="3703320" cy="16276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9704" y="1920240"/>
            <a:ext cx="59436" cy="1627632"/>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90872" y="2084832"/>
            <a:ext cx="3300984"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02  Ajuste por joystick</a:t>
            </a:r>
          </a:p>
        </p:txBody>
      </p:sp>
      <p:sp>
        <p:nvSpPr>
          <p:cNvPr id="17" name="TextBox 16"/>
          <p:cNvSpPr txBox="1"/>
          <p:nvPr/>
        </p:nvSpPr>
        <p:spPr>
          <a:xfrm>
            <a:off x="4690872" y="2752344"/>
            <a:ext cx="3300984" cy="658368"/>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Hora, segundos, data e alarme.</a:t>
            </a:r>
          </a:p>
        </p:txBody>
      </p:sp>
      <p:sp>
        <p:nvSpPr>
          <p:cNvPr id="18" name="Rounded Rectangle 17"/>
          <p:cNvSpPr/>
          <p:nvPr/>
        </p:nvSpPr>
        <p:spPr>
          <a:xfrm>
            <a:off x="566928" y="3749039"/>
            <a:ext cx="3703320" cy="175564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3749039"/>
            <a:ext cx="59436" cy="1755648"/>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913631"/>
            <a:ext cx="3300984"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03  Alarme</a:t>
            </a:r>
          </a:p>
        </p:txBody>
      </p:sp>
      <p:sp>
        <p:nvSpPr>
          <p:cNvPr id="21" name="TextBox 20"/>
          <p:cNvSpPr txBox="1"/>
          <p:nvPr/>
        </p:nvSpPr>
        <p:spPr>
          <a:xfrm>
            <a:off x="768096" y="4581144"/>
            <a:ext cx="3300984" cy="786383"/>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Mensagem no LCD, buzzer e LED.</a:t>
            </a:r>
          </a:p>
        </p:txBody>
      </p:sp>
      <p:sp>
        <p:nvSpPr>
          <p:cNvPr id="22" name="Rounded Rectangle 21"/>
          <p:cNvSpPr/>
          <p:nvPr/>
        </p:nvSpPr>
        <p:spPr>
          <a:xfrm>
            <a:off x="4489704" y="3749039"/>
            <a:ext cx="3703320" cy="175564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9704" y="3749039"/>
            <a:ext cx="59436" cy="1755648"/>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90872" y="3913631"/>
            <a:ext cx="3300984"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04  Soneca</a:t>
            </a:r>
          </a:p>
        </p:txBody>
      </p:sp>
      <p:sp>
        <p:nvSpPr>
          <p:cNvPr id="25" name="TextBox 24"/>
          <p:cNvSpPr txBox="1"/>
          <p:nvPr/>
        </p:nvSpPr>
        <p:spPr>
          <a:xfrm>
            <a:off x="4690872" y="4581144"/>
            <a:ext cx="3300984" cy="786383"/>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Duração configurável: 1 a 10 min.</a:t>
            </a:r>
          </a:p>
        </p:txBody>
      </p:sp>
      <p:pic>
        <p:nvPicPr>
          <p:cNvPr id="26" name="Picture 25" descr="02_alarme_habilitado.jpg"/>
          <p:cNvPicPr>
            <a:picLocks noChangeAspect="1"/>
          </p:cNvPicPr>
          <p:nvPr/>
        </p:nvPicPr>
        <p:blipFill>
          <a:blip r:embed="rId2"/>
          <a:stretch>
            <a:fillRect/>
          </a:stretch>
        </p:blipFill>
        <p:spPr>
          <a:xfrm>
            <a:off x="8895283" y="1755648"/>
            <a:ext cx="1942185" cy="431596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147D80"/>
                </a:solidFill>
                <a:latin typeface="DejaVu Sans"/>
              </a:defRPr>
            </a:pPr>
            <a:r>
              <a:t>02 · FUNDAMENTOS</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172A3A"/>
                </a:solidFill>
                <a:latin typeface="DejaVu Sans"/>
              </a:defRPr>
            </a:pPr>
            <a:r>
              <a:t>Por que usar RTOS neste relógio?</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586977"/>
                </a:solidFill>
                <a:latin typeface="DejaVu Sans"/>
              </a:defRPr>
            </a:pPr>
            <a:r>
              <a:t>O RTOS organiza a concorrência; a máquina de estados organiza o comportamento.</a:t>
            </a:r>
          </a:p>
        </p:txBody>
      </p:sp>
      <p:sp>
        <p:nvSpPr>
          <p:cNvPr id="6" name="Rectangle 5"/>
          <p:cNvSpPr/>
          <p:nvPr/>
        </p:nvSpPr>
        <p:spPr>
          <a:xfrm>
            <a:off x="548640" y="6409944"/>
            <a:ext cx="11064240" cy="10972"/>
          </a:xfrm>
          <a:prstGeom prst="rect">
            <a:avLst/>
          </a:prstGeom>
          <a:solidFill>
            <a:srgbClr val="CCD7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586977"/>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586977"/>
                </a:solidFill>
                <a:latin typeface="DejaVu Sans"/>
              </a:defRPr>
            </a:pPr>
            <a:r>
              <a:t>03  /  16</a:t>
            </a:r>
          </a:p>
        </p:txBody>
      </p:sp>
      <p:sp>
        <p:nvSpPr>
          <p:cNvPr id="9" name="Rounded Rectangle 8"/>
          <p:cNvSpPr/>
          <p:nvPr/>
        </p:nvSpPr>
        <p:spPr>
          <a:xfrm>
            <a:off x="566928" y="1938528"/>
            <a:ext cx="5321808" cy="263347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938528"/>
            <a:ext cx="59436" cy="2633472"/>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103120"/>
            <a:ext cx="4919472"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Laço principal / bare metal</a:t>
            </a:r>
          </a:p>
        </p:txBody>
      </p:sp>
      <p:sp>
        <p:nvSpPr>
          <p:cNvPr id="12" name="TextBox 11"/>
          <p:cNvSpPr txBox="1"/>
          <p:nvPr/>
        </p:nvSpPr>
        <p:spPr>
          <a:xfrm>
            <a:off x="768096" y="2770632"/>
            <a:ext cx="4919472" cy="1664207"/>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A aplicação define a sequência.</a:t>
            </a:r>
          </a:p>
          <a:p>
            <a:pPr>
              <a:spcBef>
                <a:spcPts val="0"/>
              </a:spcBef>
              <a:spcAft>
                <a:spcPts val="800"/>
              </a:spcAft>
              <a:defRPr sz="1800" b="0">
                <a:solidFill>
                  <a:srgbClr val="586977"/>
                </a:solidFill>
                <a:latin typeface="DejaVu Sans"/>
              </a:defRPr>
            </a:pPr>
            <a:r>
              <a:t>Menor custo de memória.</a:t>
            </a:r>
          </a:p>
          <a:p>
            <a:pPr>
              <a:spcBef>
                <a:spcPts val="0"/>
              </a:spcBef>
              <a:spcAft>
                <a:spcPts val="800"/>
              </a:spcAft>
              <a:defRPr sz="1800" b="0">
                <a:solidFill>
                  <a:srgbClr val="586977"/>
                </a:solidFill>
                <a:latin typeface="DejaVu Sans"/>
              </a:defRPr>
            </a:pPr>
            <a:r>
              <a:t>Também funciona com estados e ISRs.</a:t>
            </a:r>
          </a:p>
        </p:txBody>
      </p:sp>
      <p:sp>
        <p:nvSpPr>
          <p:cNvPr id="13" name="Rounded Rectangle 12"/>
          <p:cNvSpPr/>
          <p:nvPr/>
        </p:nvSpPr>
        <p:spPr>
          <a:xfrm>
            <a:off x="6126480" y="1938528"/>
            <a:ext cx="5468112" cy="263347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938528"/>
            <a:ext cx="59436" cy="2633472"/>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7648" y="2103120"/>
            <a:ext cx="5065776"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FreeRTOS preemptivo</a:t>
            </a:r>
          </a:p>
        </p:txBody>
      </p:sp>
      <p:sp>
        <p:nvSpPr>
          <p:cNvPr id="16" name="TextBox 15"/>
          <p:cNvSpPr txBox="1"/>
          <p:nvPr/>
        </p:nvSpPr>
        <p:spPr>
          <a:xfrm>
            <a:off x="6327648" y="2770632"/>
            <a:ext cx="5065776" cy="1664207"/>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Prioridades e esperas pelo kernel.</a:t>
            </a:r>
          </a:p>
          <a:p>
            <a:pPr>
              <a:spcBef>
                <a:spcPts val="0"/>
              </a:spcBef>
              <a:spcAft>
                <a:spcPts val="800"/>
              </a:spcAft>
              <a:defRPr sz="1800" b="0">
                <a:solidFill>
                  <a:srgbClr val="586977"/>
                </a:solidFill>
                <a:latin typeface="DejaVu Sans"/>
              </a:defRPr>
            </a:pPr>
            <a:r>
              <a:t>Filas para trocar mensagens.</a:t>
            </a:r>
          </a:p>
          <a:p>
            <a:pPr>
              <a:spcBef>
                <a:spcPts val="0"/>
              </a:spcBef>
              <a:spcAft>
                <a:spcPts val="800"/>
              </a:spcAft>
              <a:defRPr sz="1800" b="0">
                <a:solidFill>
                  <a:srgbClr val="586977"/>
                </a:solidFill>
                <a:latin typeface="DejaVu Sans"/>
              </a:defRPr>
            </a:pPr>
            <a:r>
              <a:t>Custo: pilhas e troca de contexto.</a:t>
            </a:r>
          </a:p>
        </p:txBody>
      </p:sp>
      <p:sp>
        <p:nvSpPr>
          <p:cNvPr id="17" name="Rounded Rectangle 16"/>
          <p:cNvSpPr/>
          <p:nvPr/>
        </p:nvSpPr>
        <p:spPr>
          <a:xfrm>
            <a:off x="566928" y="4864608"/>
            <a:ext cx="11027664" cy="832104"/>
          </a:xfrm>
          <a:prstGeom prst="roundRect">
            <a:avLst>
              <a:gd name="adj" fmla="val 10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74920"/>
            <a:ext cx="10488168" cy="420624"/>
          </a:xfrm>
          <a:prstGeom prst="rect">
            <a:avLst/>
          </a:prstGeom>
          <a:noFill/>
        </p:spPr>
        <p:txBody>
          <a:bodyPr wrap="square" lIns="0" rIns="0" tIns="0" bIns="0">
            <a:spAutoFit/>
          </a:bodyPr>
          <a:lstStyle/>
          <a:p>
            <a:pPr>
              <a:spcBef>
                <a:spcPts val="0"/>
              </a:spcBef>
              <a:spcAft>
                <a:spcPts val="800"/>
              </a:spcAft>
              <a:defRPr sz="2200" b="1">
                <a:solidFill>
                  <a:srgbClr val="147D80"/>
                </a:solidFill>
                <a:latin typeface="DejaVu Sans"/>
              </a:defRPr>
            </a:pPr>
            <a:r>
              <a:t>Um núcleo: as tarefas alternam a CPU; não executam em paralelo.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F6C644"/>
                </a:solidFill>
                <a:latin typeface="DejaVu Sans"/>
              </a:defRPr>
            </a:pPr>
            <a:r>
              <a:t>03 · ARQUITETURA</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FFFFFF"/>
                </a:solidFill>
                <a:latin typeface="DejaVu Sans"/>
              </a:defRPr>
            </a:pPr>
            <a:r>
              <a:t>O estado tem um único dono</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CBD8E3"/>
                </a:solidFill>
                <a:latin typeface="DejaVu Sans"/>
              </a:defRPr>
            </a:pPr>
            <a:r>
              <a:t>As tarefas comunicam intenção e snapshots, sem compartilhar o calendário para escrita.</a:t>
            </a:r>
          </a:p>
        </p:txBody>
      </p:sp>
      <p:sp>
        <p:nvSpPr>
          <p:cNvPr id="6" name="Rectangle 5"/>
          <p:cNvSpPr/>
          <p:nvPr/>
        </p:nvSpPr>
        <p:spPr>
          <a:xfrm>
            <a:off x="548640" y="6409944"/>
            <a:ext cx="11064240" cy="10972"/>
          </a:xfrm>
          <a:prstGeom prst="rect">
            <a:avLst/>
          </a:prstGeom>
          <a:solidFill>
            <a:srgbClr val="4B62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CBD8E3"/>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CBD8E3"/>
                </a:solidFill>
                <a:latin typeface="DejaVu Sans"/>
              </a:defRPr>
            </a:pPr>
            <a:r>
              <a:t>04  /  16</a:t>
            </a:r>
          </a:p>
        </p:txBody>
      </p:sp>
      <p:sp>
        <p:nvSpPr>
          <p:cNvPr id="9" name="TextBox 8"/>
          <p:cNvSpPr txBox="1"/>
          <p:nvPr/>
        </p:nvSpPr>
        <p:spPr>
          <a:xfrm>
            <a:off x="548640" y="6153912"/>
            <a:ext cx="10972800" cy="182880"/>
          </a:xfrm>
          <a:prstGeom prst="rect">
            <a:avLst/>
          </a:prstGeom>
          <a:noFill/>
        </p:spPr>
        <p:txBody>
          <a:bodyPr wrap="square" lIns="0" rIns="0" tIns="0" bIns="0">
            <a:spAutoFit/>
          </a:bodyPr>
          <a:lstStyle/>
          <a:p>
            <a:pPr>
              <a:spcBef>
                <a:spcPts val="0"/>
              </a:spcBef>
              <a:spcAft>
                <a:spcPts val="800"/>
              </a:spcAft>
              <a:defRPr sz="950" b="0">
                <a:solidFill>
                  <a:srgbClr val="CBD8E3"/>
                </a:solidFill>
                <a:latin typeface="DejaVu Sans"/>
              </a:defRPr>
            </a:pPr>
            <a:r>
              <a:t>Fonte: RelogioFinal.ino · tarefaRelogio(), publicar(), enviar()</a:t>
            </a:r>
          </a:p>
        </p:txBody>
      </p:sp>
      <p:sp>
        <p:nvSpPr>
          <p:cNvPr id="10" name="Rounded Rectangle 9"/>
          <p:cNvSpPr/>
          <p:nvPr/>
        </p:nvSpPr>
        <p:spPr>
          <a:xfrm>
            <a:off x="4160520" y="1874519"/>
            <a:ext cx="3246120" cy="658368"/>
          </a:xfrm>
          <a:prstGeom prst="roundRect">
            <a:avLst>
              <a:gd name="adj" fmla="val 10000"/>
            </a:avLst>
          </a:prstGeom>
          <a:solidFill>
            <a:srgbClr val="233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15968" y="2029968"/>
            <a:ext cx="2926080" cy="320040"/>
          </a:xfrm>
          <a:prstGeom prst="rect">
            <a:avLst/>
          </a:prstGeom>
          <a:noFill/>
        </p:spPr>
        <p:txBody>
          <a:bodyPr wrap="square" lIns="0" rIns="0" tIns="0" bIns="0">
            <a:spAutoFit/>
          </a:bodyPr>
          <a:lstStyle/>
          <a:p>
            <a:pPr algn="ctr">
              <a:spcBef>
                <a:spcPts val="0"/>
              </a:spcBef>
              <a:spcAft>
                <a:spcPts val="800"/>
              </a:spcAft>
              <a:defRPr sz="1800" b="1">
                <a:solidFill>
                  <a:srgbClr val="FFFFFF"/>
                </a:solidFill>
                <a:latin typeface="DejaVu Sans"/>
              </a:defRPr>
            </a:pPr>
            <a:r>
              <a:t>ISR Timer1 → contador</a:t>
            </a:r>
          </a:p>
        </p:txBody>
      </p:sp>
      <p:sp>
        <p:nvSpPr>
          <p:cNvPr id="12" name="Down Arrow 11"/>
          <p:cNvSpPr/>
          <p:nvPr/>
        </p:nvSpPr>
        <p:spPr>
          <a:xfrm>
            <a:off x="5586984" y="2624328"/>
            <a:ext cx="301752" cy="438912"/>
          </a:xfrm>
          <a:prstGeom prst="downArrow">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94360" y="3209544"/>
            <a:ext cx="2359152" cy="1097280"/>
          </a:xfrm>
          <a:prstGeom prst="roundRect">
            <a:avLst>
              <a:gd name="adj" fmla="val 10000"/>
            </a:avLst>
          </a:prstGeom>
          <a:solidFill>
            <a:srgbClr val="233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3429000"/>
            <a:ext cx="1938528" cy="731520"/>
          </a:xfrm>
          <a:prstGeom prst="rect">
            <a:avLst/>
          </a:prstGeom>
          <a:noFill/>
        </p:spPr>
        <p:txBody>
          <a:bodyPr wrap="square" lIns="0" rIns="0" tIns="0" bIns="0">
            <a:spAutoFit/>
          </a:bodyPr>
          <a:lstStyle/>
          <a:p>
            <a:pPr algn="ctr">
              <a:spcBef>
                <a:spcPts val="0"/>
              </a:spcBef>
              <a:spcAft>
                <a:spcPts val="800"/>
              </a:spcAft>
              <a:defRPr sz="2200" b="1">
                <a:solidFill>
                  <a:srgbClr val="FFFFFF"/>
                </a:solidFill>
                <a:latin typeface="DejaVu Sans"/>
              </a:defRPr>
            </a:pPr>
            <a:r>
              <a:t>Botões</a:t>
            </a:r>
          </a:p>
          <a:p>
            <a:pPr algn="ctr">
              <a:spcBef>
                <a:spcPts val="0"/>
              </a:spcBef>
              <a:spcAft>
                <a:spcPts val="800"/>
              </a:spcAft>
              <a:defRPr sz="2200" b="1">
                <a:solidFill>
                  <a:srgbClr val="FFFFFF"/>
                </a:solidFill>
                <a:latin typeface="DejaVu Sans"/>
              </a:defRPr>
            </a:pPr>
            <a:r>
              <a:t>e joystick</a:t>
            </a:r>
          </a:p>
        </p:txBody>
      </p:sp>
      <p:sp>
        <p:nvSpPr>
          <p:cNvPr id="15" name="Right Arrow 14"/>
          <p:cNvSpPr/>
          <p:nvPr/>
        </p:nvSpPr>
        <p:spPr>
          <a:xfrm>
            <a:off x="3191256" y="3639312"/>
            <a:ext cx="621792" cy="219456"/>
          </a:xfrm>
          <a:prstGeom prst="rightArrow">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35808" y="3008376"/>
            <a:ext cx="960120" cy="566928"/>
          </a:xfrm>
          <a:prstGeom prst="rect">
            <a:avLst/>
          </a:prstGeom>
          <a:noFill/>
        </p:spPr>
        <p:txBody>
          <a:bodyPr wrap="square" lIns="0" rIns="0" tIns="0" bIns="0">
            <a:spAutoFit/>
          </a:bodyPr>
          <a:lstStyle/>
          <a:p>
            <a:pPr algn="ctr">
              <a:spcBef>
                <a:spcPts val="0"/>
              </a:spcBef>
              <a:spcAft>
                <a:spcPts val="800"/>
              </a:spcAft>
              <a:defRPr sz="1100" b="0">
                <a:solidFill>
                  <a:srgbClr val="CBD8E3"/>
                </a:solidFill>
                <a:latin typeface="DejaVu Sans"/>
              </a:defRPr>
            </a:pPr>
            <a:r>
              <a:t>FIFO</a:t>
            </a:r>
          </a:p>
          <a:p>
            <a:pPr algn="ctr">
              <a:spcBef>
                <a:spcPts val="0"/>
              </a:spcBef>
              <a:spcAft>
                <a:spcPts val="800"/>
              </a:spcAft>
              <a:defRPr sz="1100" b="0">
                <a:solidFill>
                  <a:srgbClr val="CBD8E3"/>
                </a:solidFill>
                <a:latin typeface="DejaVu Sans"/>
              </a:defRPr>
            </a:pPr>
            <a:r>
              <a:t>16 eventos</a:t>
            </a:r>
          </a:p>
        </p:txBody>
      </p:sp>
      <p:sp>
        <p:nvSpPr>
          <p:cNvPr id="17" name="Rounded Rectangle 16"/>
          <p:cNvSpPr/>
          <p:nvPr/>
        </p:nvSpPr>
        <p:spPr>
          <a:xfrm>
            <a:off x="4142232" y="3072384"/>
            <a:ext cx="3337560" cy="1645920"/>
          </a:xfrm>
          <a:prstGeom prst="roundRect">
            <a:avLst>
              <a:gd name="adj" fmla="val 10000"/>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43400" y="3355848"/>
            <a:ext cx="2907792" cy="420624"/>
          </a:xfrm>
          <a:prstGeom prst="rect">
            <a:avLst/>
          </a:prstGeom>
          <a:noFill/>
        </p:spPr>
        <p:txBody>
          <a:bodyPr wrap="square" lIns="0" rIns="0" tIns="0" bIns="0">
            <a:spAutoFit/>
          </a:bodyPr>
          <a:lstStyle/>
          <a:p>
            <a:pPr algn="ctr">
              <a:spcBef>
                <a:spcPts val="0"/>
              </a:spcBef>
              <a:spcAft>
                <a:spcPts val="800"/>
              </a:spcAft>
              <a:defRPr sz="2600" b="1">
                <a:solidFill>
                  <a:srgbClr val="FFFFFF"/>
                </a:solidFill>
                <a:latin typeface="DejaVu Sans"/>
              </a:defRPr>
            </a:pPr>
            <a:r>
              <a:t>TaskRelógio</a:t>
            </a:r>
          </a:p>
        </p:txBody>
      </p:sp>
      <p:sp>
        <p:nvSpPr>
          <p:cNvPr id="19" name="TextBox 18"/>
          <p:cNvSpPr txBox="1"/>
          <p:nvPr/>
        </p:nvSpPr>
        <p:spPr>
          <a:xfrm>
            <a:off x="4343400" y="3950208"/>
            <a:ext cx="2907792" cy="347472"/>
          </a:xfrm>
          <a:prstGeom prst="rect">
            <a:avLst/>
          </a:prstGeom>
          <a:noFill/>
        </p:spPr>
        <p:txBody>
          <a:bodyPr wrap="square" lIns="0" rIns="0" tIns="0" bIns="0">
            <a:spAutoFit/>
          </a:bodyPr>
          <a:lstStyle/>
          <a:p>
            <a:pPr algn="ctr">
              <a:spcBef>
                <a:spcPts val="0"/>
              </a:spcBef>
              <a:spcAft>
                <a:spcPts val="800"/>
              </a:spcAft>
              <a:defRPr sz="1900" b="0">
                <a:solidFill>
                  <a:srgbClr val="FFFFFF"/>
                </a:solidFill>
                <a:latin typeface="DejaVu Sans"/>
              </a:defRPr>
            </a:pPr>
            <a:r>
              <a:t>Estado privado</a:t>
            </a:r>
          </a:p>
        </p:txBody>
      </p:sp>
      <p:sp>
        <p:nvSpPr>
          <p:cNvPr id="20" name="Right Arrow 19"/>
          <p:cNvSpPr/>
          <p:nvPr/>
        </p:nvSpPr>
        <p:spPr>
          <a:xfrm>
            <a:off x="7744968" y="3328416"/>
            <a:ext cx="594360" cy="210312"/>
          </a:xfrm>
          <a:prstGeom prst="rightArrow">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7744968" y="4206240"/>
            <a:ext cx="594360" cy="210312"/>
          </a:xfrm>
          <a:prstGeom prst="rightArrow">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577072" y="2962656"/>
            <a:ext cx="2743200" cy="859536"/>
          </a:xfrm>
          <a:prstGeom prst="roundRect">
            <a:avLst>
              <a:gd name="adj" fmla="val 10000"/>
            </a:avLst>
          </a:prstGeom>
          <a:solidFill>
            <a:srgbClr val="233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0" y="3145536"/>
            <a:ext cx="2331720" cy="475488"/>
          </a:xfrm>
          <a:prstGeom prst="rect">
            <a:avLst/>
          </a:prstGeom>
          <a:noFill/>
        </p:spPr>
        <p:txBody>
          <a:bodyPr wrap="square" lIns="0" rIns="0" tIns="0" bIns="0">
            <a:spAutoFit/>
          </a:bodyPr>
          <a:lstStyle/>
          <a:p>
            <a:pPr>
              <a:spcBef>
                <a:spcPts val="0"/>
              </a:spcBef>
              <a:spcAft>
                <a:spcPts val="800"/>
              </a:spcAft>
              <a:defRPr sz="1700" b="1">
                <a:solidFill>
                  <a:srgbClr val="FFFFFF"/>
                </a:solidFill>
                <a:latin typeface="DejaVu Sans"/>
              </a:defRPr>
            </a:pPr>
            <a:r>
              <a:t>Alarme  ·  ligar/desligar</a:t>
            </a:r>
          </a:p>
        </p:txBody>
      </p:sp>
      <p:sp>
        <p:nvSpPr>
          <p:cNvPr id="24" name="Rounded Rectangle 23"/>
          <p:cNvSpPr/>
          <p:nvPr/>
        </p:nvSpPr>
        <p:spPr>
          <a:xfrm>
            <a:off x="8577072" y="4023360"/>
            <a:ext cx="2743200" cy="859536"/>
          </a:xfrm>
          <a:prstGeom prst="roundRect">
            <a:avLst>
              <a:gd name="adj" fmla="val 10000"/>
            </a:avLst>
          </a:prstGeom>
          <a:solidFill>
            <a:srgbClr val="233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0" y="4215384"/>
            <a:ext cx="2331720" cy="475488"/>
          </a:xfrm>
          <a:prstGeom prst="rect">
            <a:avLst/>
          </a:prstGeom>
          <a:noFill/>
        </p:spPr>
        <p:txBody>
          <a:bodyPr wrap="square" lIns="0" rIns="0" tIns="0" bIns="0">
            <a:spAutoFit/>
          </a:bodyPr>
          <a:lstStyle/>
          <a:p>
            <a:pPr>
              <a:spcBef>
                <a:spcPts val="0"/>
              </a:spcBef>
              <a:spcAft>
                <a:spcPts val="800"/>
              </a:spcAft>
              <a:defRPr sz="1800" b="1">
                <a:solidFill>
                  <a:srgbClr val="FFFFFF"/>
                </a:solidFill>
                <a:latin typeface="DejaVu Sans"/>
              </a:defRPr>
            </a:pPr>
            <a:r>
              <a:t>Display  ·  snapshot</a:t>
            </a:r>
          </a:p>
        </p:txBody>
      </p:sp>
      <p:sp>
        <p:nvSpPr>
          <p:cNvPr id="26" name="TextBox 25"/>
          <p:cNvSpPr txBox="1"/>
          <p:nvPr/>
        </p:nvSpPr>
        <p:spPr>
          <a:xfrm>
            <a:off x="8458200" y="5093208"/>
            <a:ext cx="2971800" cy="393192"/>
          </a:xfrm>
          <a:prstGeom prst="rect">
            <a:avLst/>
          </a:prstGeom>
          <a:noFill/>
        </p:spPr>
        <p:txBody>
          <a:bodyPr wrap="square" lIns="0" rIns="0" tIns="0" bIns="0">
            <a:spAutoFit/>
          </a:bodyPr>
          <a:lstStyle/>
          <a:p>
            <a:pPr algn="ctr">
              <a:spcBef>
                <a:spcPts val="0"/>
              </a:spcBef>
              <a:spcAft>
                <a:spcPts val="800"/>
              </a:spcAft>
              <a:defRPr sz="1300" b="0">
                <a:solidFill>
                  <a:srgbClr val="CBD8E3"/>
                </a:solidFill>
                <a:latin typeface="DejaVu Sans"/>
              </a:defRPr>
            </a:pPr>
            <a:r>
              <a:t>Saídas: caixas de 1 posição</a:t>
            </a:r>
          </a:p>
        </p:txBody>
      </p:sp>
      <p:sp>
        <p:nvSpPr>
          <p:cNvPr id="27" name="TextBox 26"/>
          <p:cNvSpPr txBox="1"/>
          <p:nvPr/>
        </p:nvSpPr>
        <p:spPr>
          <a:xfrm>
            <a:off x="731520" y="5605272"/>
            <a:ext cx="10744200" cy="320040"/>
          </a:xfrm>
          <a:prstGeom prst="rect">
            <a:avLst/>
          </a:prstGeom>
          <a:noFill/>
        </p:spPr>
        <p:txBody>
          <a:bodyPr wrap="square" lIns="0" rIns="0" tIns="0" bIns="0">
            <a:spAutoFit/>
          </a:bodyPr>
          <a:lstStyle/>
          <a:p>
            <a:pPr algn="ctr">
              <a:spcBef>
                <a:spcPts val="0"/>
              </a:spcBef>
              <a:spcAft>
                <a:spcPts val="800"/>
              </a:spcAft>
              <a:defRPr sz="2000" b="0">
                <a:solidFill>
                  <a:srgbClr val="FFFFFF"/>
                </a:solidFill>
                <a:latin typeface="DejaVu Sans"/>
              </a:defRPr>
            </a:pPr>
            <a:r>
              <a:t>Quem lê o botão não decide a regra. Quem escreve no LCD não altera a hora.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147D80"/>
                </a:solidFill>
                <a:latin typeface="DejaVu Sans"/>
              </a:defRPr>
            </a:pPr>
            <a:r>
              <a:t>04 · TAREFAS</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172A3A"/>
                </a:solidFill>
                <a:latin typeface="DejaVu Sans"/>
              </a:defRPr>
            </a:pPr>
            <a:r>
              <a:t>Prioridade define quem executa quando há disputa</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586977"/>
                </a:solidFill>
                <a:latin typeface="DejaVu Sans"/>
              </a:defRPr>
            </a:pPr>
            <a:r>
              <a:t>A tarefa de maior prioridade também precisa liberar a CPU.</a:t>
            </a:r>
          </a:p>
        </p:txBody>
      </p:sp>
      <p:sp>
        <p:nvSpPr>
          <p:cNvPr id="6" name="Rectangle 5"/>
          <p:cNvSpPr/>
          <p:nvPr/>
        </p:nvSpPr>
        <p:spPr>
          <a:xfrm>
            <a:off x="548640" y="6409944"/>
            <a:ext cx="11064240" cy="10972"/>
          </a:xfrm>
          <a:prstGeom prst="rect">
            <a:avLst/>
          </a:prstGeom>
          <a:solidFill>
            <a:srgbClr val="CCD7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586977"/>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586977"/>
                </a:solidFill>
                <a:latin typeface="DejaVu Sans"/>
              </a:defRPr>
            </a:pPr>
            <a:r>
              <a:t>05  /  16</a:t>
            </a:r>
          </a:p>
        </p:txBody>
      </p:sp>
      <p:sp>
        <p:nvSpPr>
          <p:cNvPr id="9" name="TextBox 8"/>
          <p:cNvSpPr txBox="1"/>
          <p:nvPr/>
        </p:nvSpPr>
        <p:spPr>
          <a:xfrm>
            <a:off x="694944" y="1911095"/>
            <a:ext cx="2468880" cy="292608"/>
          </a:xfrm>
          <a:prstGeom prst="rect">
            <a:avLst/>
          </a:prstGeom>
          <a:noFill/>
        </p:spPr>
        <p:txBody>
          <a:bodyPr wrap="square" lIns="0" rIns="0" tIns="0" bIns="0">
            <a:spAutoFit/>
          </a:bodyPr>
          <a:lstStyle/>
          <a:p>
            <a:pPr>
              <a:spcBef>
                <a:spcPts val="0"/>
              </a:spcBef>
              <a:spcAft>
                <a:spcPts val="800"/>
              </a:spcAft>
              <a:defRPr sz="1200" b="1">
                <a:solidFill>
                  <a:srgbClr val="147D80"/>
                </a:solidFill>
                <a:latin typeface="DejaVu Sans"/>
              </a:defRPr>
            </a:pPr>
            <a:r>
              <a:t>TAREFA</a:t>
            </a:r>
          </a:p>
        </p:txBody>
      </p:sp>
      <p:sp>
        <p:nvSpPr>
          <p:cNvPr id="10" name="TextBox 9"/>
          <p:cNvSpPr txBox="1"/>
          <p:nvPr/>
        </p:nvSpPr>
        <p:spPr>
          <a:xfrm>
            <a:off x="3346704" y="1911095"/>
            <a:ext cx="1234440" cy="292608"/>
          </a:xfrm>
          <a:prstGeom prst="rect">
            <a:avLst/>
          </a:prstGeom>
          <a:noFill/>
        </p:spPr>
        <p:txBody>
          <a:bodyPr wrap="square" lIns="0" rIns="0" tIns="0" bIns="0">
            <a:spAutoFit/>
          </a:bodyPr>
          <a:lstStyle/>
          <a:p>
            <a:pPr>
              <a:spcBef>
                <a:spcPts val="0"/>
              </a:spcBef>
              <a:spcAft>
                <a:spcPts val="800"/>
              </a:spcAft>
              <a:defRPr sz="1200" b="1">
                <a:solidFill>
                  <a:srgbClr val="147D80"/>
                </a:solidFill>
                <a:latin typeface="DejaVu Sans"/>
              </a:defRPr>
            </a:pPr>
            <a:r>
              <a:t>PRIOR.</a:t>
            </a:r>
          </a:p>
        </p:txBody>
      </p:sp>
      <p:sp>
        <p:nvSpPr>
          <p:cNvPr id="11" name="TextBox 10"/>
          <p:cNvSpPr txBox="1"/>
          <p:nvPr/>
        </p:nvSpPr>
        <p:spPr>
          <a:xfrm>
            <a:off x="4690872" y="1911095"/>
            <a:ext cx="3749039" cy="292608"/>
          </a:xfrm>
          <a:prstGeom prst="rect">
            <a:avLst/>
          </a:prstGeom>
          <a:noFill/>
        </p:spPr>
        <p:txBody>
          <a:bodyPr wrap="square" lIns="0" rIns="0" tIns="0" bIns="0">
            <a:spAutoFit/>
          </a:bodyPr>
          <a:lstStyle/>
          <a:p>
            <a:pPr>
              <a:spcBef>
                <a:spcPts val="0"/>
              </a:spcBef>
              <a:spcAft>
                <a:spcPts val="800"/>
              </a:spcAft>
              <a:defRPr sz="1200" b="1">
                <a:solidFill>
                  <a:srgbClr val="147D80"/>
                </a:solidFill>
                <a:latin typeface="DejaVu Sans"/>
              </a:defRPr>
            </a:pPr>
            <a:r>
              <a:t>RESPONSABILIDADE</a:t>
            </a:r>
          </a:p>
        </p:txBody>
      </p:sp>
      <p:sp>
        <p:nvSpPr>
          <p:cNvPr id="12" name="TextBox 11"/>
          <p:cNvSpPr txBox="1"/>
          <p:nvPr/>
        </p:nvSpPr>
        <p:spPr>
          <a:xfrm>
            <a:off x="8613648" y="1911095"/>
            <a:ext cx="2560320" cy="292608"/>
          </a:xfrm>
          <a:prstGeom prst="rect">
            <a:avLst/>
          </a:prstGeom>
          <a:noFill/>
        </p:spPr>
        <p:txBody>
          <a:bodyPr wrap="square" lIns="0" rIns="0" tIns="0" bIns="0">
            <a:spAutoFit/>
          </a:bodyPr>
          <a:lstStyle/>
          <a:p>
            <a:pPr>
              <a:spcBef>
                <a:spcPts val="0"/>
              </a:spcBef>
              <a:spcAft>
                <a:spcPts val="800"/>
              </a:spcAft>
              <a:defRPr sz="1200" b="1">
                <a:solidFill>
                  <a:srgbClr val="147D80"/>
                </a:solidFill>
                <a:latin typeface="DejaVu Sans"/>
              </a:defRPr>
            </a:pPr>
            <a:r>
              <a:t>COMO AGUARDA</a:t>
            </a:r>
          </a:p>
        </p:txBody>
      </p:sp>
      <p:sp>
        <p:nvSpPr>
          <p:cNvPr id="13" name="Rounded Rectangle 12"/>
          <p:cNvSpPr/>
          <p:nvPr/>
        </p:nvSpPr>
        <p:spPr>
          <a:xfrm>
            <a:off x="566928" y="2313432"/>
            <a:ext cx="11027664" cy="5943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2423160"/>
            <a:ext cx="2468880" cy="393192"/>
          </a:xfrm>
          <a:prstGeom prst="rect">
            <a:avLst/>
          </a:prstGeom>
          <a:noFill/>
        </p:spPr>
        <p:txBody>
          <a:bodyPr wrap="square" lIns="0" rIns="0" tIns="0" bIns="0">
            <a:spAutoFit/>
          </a:bodyPr>
          <a:lstStyle/>
          <a:p>
            <a:pPr>
              <a:spcBef>
                <a:spcPts val="0"/>
              </a:spcBef>
              <a:spcAft>
                <a:spcPts val="800"/>
              </a:spcAft>
              <a:defRPr sz="1900" b="1">
                <a:solidFill>
                  <a:srgbClr val="172A3A"/>
                </a:solidFill>
                <a:latin typeface="DejaVu Sans"/>
              </a:defRPr>
            </a:pPr>
            <a:r>
              <a:t>Alarme</a:t>
            </a:r>
          </a:p>
        </p:txBody>
      </p:sp>
      <p:sp>
        <p:nvSpPr>
          <p:cNvPr id="15" name="TextBox 14"/>
          <p:cNvSpPr txBox="1"/>
          <p:nvPr/>
        </p:nvSpPr>
        <p:spPr>
          <a:xfrm>
            <a:off x="3346704" y="2423160"/>
            <a:ext cx="1234440" cy="393192"/>
          </a:xfrm>
          <a:prstGeom prst="rect">
            <a:avLst/>
          </a:prstGeom>
          <a:noFill/>
        </p:spPr>
        <p:txBody>
          <a:bodyPr wrap="square" lIns="0" rIns="0" tIns="0" bIns="0">
            <a:spAutoFit/>
          </a:bodyPr>
          <a:lstStyle/>
          <a:p>
            <a:pPr>
              <a:spcBef>
                <a:spcPts val="0"/>
              </a:spcBef>
              <a:spcAft>
                <a:spcPts val="800"/>
              </a:spcAft>
              <a:defRPr sz="1900" b="0">
                <a:solidFill>
                  <a:srgbClr val="172A3A"/>
                </a:solidFill>
                <a:latin typeface="DejaVu Sans"/>
              </a:defRPr>
            </a:pPr>
            <a:r>
              <a:t>3</a:t>
            </a:r>
          </a:p>
        </p:txBody>
      </p:sp>
      <p:sp>
        <p:nvSpPr>
          <p:cNvPr id="16" name="TextBox 15"/>
          <p:cNvSpPr txBox="1"/>
          <p:nvPr/>
        </p:nvSpPr>
        <p:spPr>
          <a:xfrm>
            <a:off x="4690872" y="2423160"/>
            <a:ext cx="3749039" cy="393192"/>
          </a:xfrm>
          <a:prstGeom prst="rect">
            <a:avLst/>
          </a:prstGeom>
          <a:noFill/>
        </p:spPr>
        <p:txBody>
          <a:bodyPr wrap="square" lIns="0" rIns="0" tIns="0" bIns="0">
            <a:spAutoFit/>
          </a:bodyPr>
          <a:lstStyle/>
          <a:p>
            <a:pPr>
              <a:spcBef>
                <a:spcPts val="0"/>
              </a:spcBef>
              <a:spcAft>
                <a:spcPts val="800"/>
              </a:spcAft>
              <a:defRPr sz="1900" b="0">
                <a:solidFill>
                  <a:srgbClr val="172A3A"/>
                </a:solidFill>
                <a:latin typeface="DejaVu Sans"/>
              </a:defRPr>
            </a:pPr>
            <a:r>
              <a:t>Buzzer e LED</a:t>
            </a:r>
          </a:p>
        </p:txBody>
      </p:sp>
      <p:sp>
        <p:nvSpPr>
          <p:cNvPr id="17" name="TextBox 16"/>
          <p:cNvSpPr txBox="1"/>
          <p:nvPr/>
        </p:nvSpPr>
        <p:spPr>
          <a:xfrm>
            <a:off x="8613648" y="2423160"/>
            <a:ext cx="2560320" cy="393192"/>
          </a:xfrm>
          <a:prstGeom prst="rect">
            <a:avLst/>
          </a:prstGeom>
          <a:noFill/>
        </p:spPr>
        <p:txBody>
          <a:bodyPr wrap="square" lIns="0" rIns="0" tIns="0" bIns="0">
            <a:spAutoFit/>
          </a:bodyPr>
          <a:lstStyle/>
          <a:p>
            <a:pPr>
              <a:spcBef>
                <a:spcPts val="0"/>
              </a:spcBef>
              <a:spcAft>
                <a:spcPts val="800"/>
              </a:spcAft>
              <a:defRPr sz="1900" b="0">
                <a:solidFill>
                  <a:srgbClr val="172A3A"/>
                </a:solidFill>
                <a:latin typeface="DejaVu Sans"/>
              </a:defRPr>
            </a:pPr>
            <a:r>
              <a:t>Fila / fase sonora</a:t>
            </a:r>
          </a:p>
        </p:txBody>
      </p:sp>
      <p:sp>
        <p:nvSpPr>
          <p:cNvPr id="18" name="Rounded Rectangle 17"/>
          <p:cNvSpPr/>
          <p:nvPr/>
        </p:nvSpPr>
        <p:spPr>
          <a:xfrm>
            <a:off x="566928" y="3017520"/>
            <a:ext cx="11027664" cy="594360"/>
          </a:xfrm>
          <a:prstGeom prst="roundRect">
            <a:avLst>
              <a:gd name="adj" fmla="val 10000"/>
            </a:avLst>
          </a:prstGeom>
          <a:solidFill>
            <a:srgbClr val="E8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4944" y="3127248"/>
            <a:ext cx="2468880" cy="393192"/>
          </a:xfrm>
          <a:prstGeom prst="rect">
            <a:avLst/>
          </a:prstGeom>
          <a:noFill/>
        </p:spPr>
        <p:txBody>
          <a:bodyPr wrap="square" lIns="0" rIns="0" tIns="0" bIns="0">
            <a:spAutoFit/>
          </a:bodyPr>
          <a:lstStyle/>
          <a:p>
            <a:pPr>
              <a:spcBef>
                <a:spcPts val="0"/>
              </a:spcBef>
              <a:spcAft>
                <a:spcPts val="800"/>
              </a:spcAft>
              <a:defRPr sz="1900" b="1">
                <a:solidFill>
                  <a:srgbClr val="172A3A"/>
                </a:solidFill>
                <a:latin typeface="DejaVu Sans"/>
              </a:defRPr>
            </a:pPr>
            <a:r>
              <a:t>Relógio</a:t>
            </a:r>
          </a:p>
        </p:txBody>
      </p:sp>
      <p:sp>
        <p:nvSpPr>
          <p:cNvPr id="20" name="TextBox 19"/>
          <p:cNvSpPr txBox="1"/>
          <p:nvPr/>
        </p:nvSpPr>
        <p:spPr>
          <a:xfrm>
            <a:off x="3346704" y="3127248"/>
            <a:ext cx="1234440" cy="393192"/>
          </a:xfrm>
          <a:prstGeom prst="rect">
            <a:avLst/>
          </a:prstGeom>
          <a:noFill/>
        </p:spPr>
        <p:txBody>
          <a:bodyPr wrap="square" lIns="0" rIns="0" tIns="0" bIns="0">
            <a:spAutoFit/>
          </a:bodyPr>
          <a:lstStyle/>
          <a:p>
            <a:pPr>
              <a:spcBef>
                <a:spcPts val="0"/>
              </a:spcBef>
              <a:spcAft>
                <a:spcPts val="800"/>
              </a:spcAft>
              <a:defRPr sz="1900" b="0">
                <a:solidFill>
                  <a:srgbClr val="172A3A"/>
                </a:solidFill>
                <a:latin typeface="DejaVu Sans"/>
              </a:defRPr>
            </a:pPr>
            <a:r>
              <a:t>2</a:t>
            </a:r>
          </a:p>
        </p:txBody>
      </p:sp>
      <p:sp>
        <p:nvSpPr>
          <p:cNvPr id="21" name="TextBox 20"/>
          <p:cNvSpPr txBox="1"/>
          <p:nvPr/>
        </p:nvSpPr>
        <p:spPr>
          <a:xfrm>
            <a:off x="4690872" y="3127248"/>
            <a:ext cx="3749039" cy="393192"/>
          </a:xfrm>
          <a:prstGeom prst="rect">
            <a:avLst/>
          </a:prstGeom>
          <a:noFill/>
        </p:spPr>
        <p:txBody>
          <a:bodyPr wrap="square" lIns="0" rIns="0" tIns="0" bIns="0">
            <a:spAutoFit/>
          </a:bodyPr>
          <a:lstStyle/>
          <a:p>
            <a:pPr>
              <a:spcBef>
                <a:spcPts val="0"/>
              </a:spcBef>
              <a:spcAft>
                <a:spcPts val="800"/>
              </a:spcAft>
              <a:defRPr sz="1900" b="0">
                <a:solidFill>
                  <a:srgbClr val="172A3A"/>
                </a:solidFill>
                <a:latin typeface="DejaVu Sans"/>
              </a:defRPr>
            </a:pPr>
            <a:r>
              <a:t>Calendário e regras</a:t>
            </a:r>
          </a:p>
        </p:txBody>
      </p:sp>
      <p:sp>
        <p:nvSpPr>
          <p:cNvPr id="22" name="TextBox 21"/>
          <p:cNvSpPr txBox="1"/>
          <p:nvPr/>
        </p:nvSpPr>
        <p:spPr>
          <a:xfrm>
            <a:off x="8613648" y="3127248"/>
            <a:ext cx="2560320" cy="393192"/>
          </a:xfrm>
          <a:prstGeom prst="rect">
            <a:avLst/>
          </a:prstGeom>
          <a:noFill/>
        </p:spPr>
        <p:txBody>
          <a:bodyPr wrap="square" lIns="0" rIns="0" tIns="0" bIns="0">
            <a:spAutoFit/>
          </a:bodyPr>
          <a:lstStyle/>
          <a:p>
            <a:pPr>
              <a:spcBef>
                <a:spcPts val="0"/>
              </a:spcBef>
              <a:spcAft>
                <a:spcPts val="800"/>
              </a:spcAft>
              <a:defRPr sz="1900" b="0">
                <a:solidFill>
                  <a:srgbClr val="172A3A"/>
                </a:solidFill>
                <a:latin typeface="DejaVu Sans"/>
              </a:defRPr>
            </a:pPr>
            <a:r>
              <a:t>vTaskDelayUntil</a:t>
            </a:r>
          </a:p>
        </p:txBody>
      </p:sp>
      <p:sp>
        <p:nvSpPr>
          <p:cNvPr id="23" name="Rounded Rectangle 22"/>
          <p:cNvSpPr/>
          <p:nvPr/>
        </p:nvSpPr>
        <p:spPr>
          <a:xfrm>
            <a:off x="566928" y="3721608"/>
            <a:ext cx="11027664" cy="5943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3831336"/>
            <a:ext cx="2468880" cy="393192"/>
          </a:xfrm>
          <a:prstGeom prst="rect">
            <a:avLst/>
          </a:prstGeom>
          <a:noFill/>
        </p:spPr>
        <p:txBody>
          <a:bodyPr wrap="square" lIns="0" rIns="0" tIns="0" bIns="0">
            <a:spAutoFit/>
          </a:bodyPr>
          <a:lstStyle/>
          <a:p>
            <a:pPr>
              <a:spcBef>
                <a:spcPts val="0"/>
              </a:spcBef>
              <a:spcAft>
                <a:spcPts val="800"/>
              </a:spcAft>
              <a:defRPr sz="1900" b="1">
                <a:solidFill>
                  <a:srgbClr val="172A3A"/>
                </a:solidFill>
                <a:latin typeface="DejaVu Sans"/>
              </a:defRPr>
            </a:pPr>
            <a:r>
              <a:t>Botões</a:t>
            </a:r>
          </a:p>
        </p:txBody>
      </p:sp>
      <p:sp>
        <p:nvSpPr>
          <p:cNvPr id="25" name="TextBox 24"/>
          <p:cNvSpPr txBox="1"/>
          <p:nvPr/>
        </p:nvSpPr>
        <p:spPr>
          <a:xfrm>
            <a:off x="3346704" y="3831336"/>
            <a:ext cx="1234440" cy="393192"/>
          </a:xfrm>
          <a:prstGeom prst="rect">
            <a:avLst/>
          </a:prstGeom>
          <a:noFill/>
        </p:spPr>
        <p:txBody>
          <a:bodyPr wrap="square" lIns="0" rIns="0" tIns="0" bIns="0">
            <a:spAutoFit/>
          </a:bodyPr>
          <a:lstStyle/>
          <a:p>
            <a:pPr>
              <a:spcBef>
                <a:spcPts val="0"/>
              </a:spcBef>
              <a:spcAft>
                <a:spcPts val="800"/>
              </a:spcAft>
              <a:defRPr sz="1900" b="0">
                <a:solidFill>
                  <a:srgbClr val="172A3A"/>
                </a:solidFill>
                <a:latin typeface="DejaVu Sans"/>
              </a:defRPr>
            </a:pPr>
            <a:r>
              <a:t>2</a:t>
            </a:r>
          </a:p>
        </p:txBody>
      </p:sp>
      <p:sp>
        <p:nvSpPr>
          <p:cNvPr id="26" name="TextBox 25"/>
          <p:cNvSpPr txBox="1"/>
          <p:nvPr/>
        </p:nvSpPr>
        <p:spPr>
          <a:xfrm>
            <a:off x="4690872" y="3831336"/>
            <a:ext cx="3749039" cy="393192"/>
          </a:xfrm>
          <a:prstGeom prst="rect">
            <a:avLst/>
          </a:prstGeom>
          <a:noFill/>
        </p:spPr>
        <p:txBody>
          <a:bodyPr wrap="square" lIns="0" rIns="0" tIns="0" bIns="0">
            <a:spAutoFit/>
          </a:bodyPr>
          <a:lstStyle/>
          <a:p>
            <a:pPr>
              <a:spcBef>
                <a:spcPts val="0"/>
              </a:spcBef>
              <a:spcAft>
                <a:spcPts val="800"/>
              </a:spcAft>
              <a:defRPr sz="1900" b="0">
                <a:solidFill>
                  <a:srgbClr val="172A3A"/>
                </a:solidFill>
                <a:latin typeface="DejaVu Sans"/>
              </a:defRPr>
            </a:pPr>
            <a:r>
              <a:t>Leitura e eventos</a:t>
            </a:r>
          </a:p>
        </p:txBody>
      </p:sp>
      <p:sp>
        <p:nvSpPr>
          <p:cNvPr id="27" name="TextBox 26"/>
          <p:cNvSpPr txBox="1"/>
          <p:nvPr/>
        </p:nvSpPr>
        <p:spPr>
          <a:xfrm>
            <a:off x="8613648" y="3831336"/>
            <a:ext cx="2560320" cy="393192"/>
          </a:xfrm>
          <a:prstGeom prst="rect">
            <a:avLst/>
          </a:prstGeom>
          <a:noFill/>
        </p:spPr>
        <p:txBody>
          <a:bodyPr wrap="square" lIns="0" rIns="0" tIns="0" bIns="0">
            <a:spAutoFit/>
          </a:bodyPr>
          <a:lstStyle/>
          <a:p>
            <a:pPr>
              <a:spcBef>
                <a:spcPts val="0"/>
              </a:spcBef>
              <a:spcAft>
                <a:spcPts val="800"/>
              </a:spcAft>
              <a:defRPr sz="1900" b="0">
                <a:solidFill>
                  <a:srgbClr val="172A3A"/>
                </a:solidFill>
                <a:latin typeface="DejaVu Sans"/>
              </a:defRPr>
            </a:pPr>
            <a:r>
              <a:t>vTaskDelayUntil</a:t>
            </a:r>
          </a:p>
        </p:txBody>
      </p:sp>
      <p:sp>
        <p:nvSpPr>
          <p:cNvPr id="28" name="Rounded Rectangle 27"/>
          <p:cNvSpPr/>
          <p:nvPr/>
        </p:nvSpPr>
        <p:spPr>
          <a:xfrm>
            <a:off x="566928" y="4425696"/>
            <a:ext cx="11027664" cy="594360"/>
          </a:xfrm>
          <a:prstGeom prst="roundRect">
            <a:avLst>
              <a:gd name="adj" fmla="val 10000"/>
            </a:avLst>
          </a:prstGeom>
          <a:solidFill>
            <a:srgbClr val="E8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 y="4535424"/>
            <a:ext cx="2468880" cy="393192"/>
          </a:xfrm>
          <a:prstGeom prst="rect">
            <a:avLst/>
          </a:prstGeom>
          <a:noFill/>
        </p:spPr>
        <p:txBody>
          <a:bodyPr wrap="square" lIns="0" rIns="0" tIns="0" bIns="0">
            <a:spAutoFit/>
          </a:bodyPr>
          <a:lstStyle/>
          <a:p>
            <a:pPr>
              <a:spcBef>
                <a:spcPts val="0"/>
              </a:spcBef>
              <a:spcAft>
                <a:spcPts val="800"/>
              </a:spcAft>
              <a:defRPr sz="1900" b="1">
                <a:solidFill>
                  <a:srgbClr val="172A3A"/>
                </a:solidFill>
                <a:latin typeface="DejaVu Sans"/>
              </a:defRPr>
            </a:pPr>
            <a:r>
              <a:t>Display</a:t>
            </a:r>
          </a:p>
        </p:txBody>
      </p:sp>
      <p:sp>
        <p:nvSpPr>
          <p:cNvPr id="30" name="TextBox 29"/>
          <p:cNvSpPr txBox="1"/>
          <p:nvPr/>
        </p:nvSpPr>
        <p:spPr>
          <a:xfrm>
            <a:off x="3346704" y="4535424"/>
            <a:ext cx="1234440" cy="393192"/>
          </a:xfrm>
          <a:prstGeom prst="rect">
            <a:avLst/>
          </a:prstGeom>
          <a:noFill/>
        </p:spPr>
        <p:txBody>
          <a:bodyPr wrap="square" lIns="0" rIns="0" tIns="0" bIns="0">
            <a:spAutoFit/>
          </a:bodyPr>
          <a:lstStyle/>
          <a:p>
            <a:pPr>
              <a:spcBef>
                <a:spcPts val="0"/>
              </a:spcBef>
              <a:spcAft>
                <a:spcPts val="800"/>
              </a:spcAft>
              <a:defRPr sz="1900" b="0">
                <a:solidFill>
                  <a:srgbClr val="172A3A"/>
                </a:solidFill>
                <a:latin typeface="DejaVu Sans"/>
              </a:defRPr>
            </a:pPr>
            <a:r>
              <a:t>1</a:t>
            </a:r>
          </a:p>
        </p:txBody>
      </p:sp>
      <p:sp>
        <p:nvSpPr>
          <p:cNvPr id="31" name="TextBox 30"/>
          <p:cNvSpPr txBox="1"/>
          <p:nvPr/>
        </p:nvSpPr>
        <p:spPr>
          <a:xfrm>
            <a:off x="4690872" y="4535424"/>
            <a:ext cx="3749039" cy="393192"/>
          </a:xfrm>
          <a:prstGeom prst="rect">
            <a:avLst/>
          </a:prstGeom>
          <a:noFill/>
        </p:spPr>
        <p:txBody>
          <a:bodyPr wrap="square" lIns="0" rIns="0" tIns="0" bIns="0">
            <a:spAutoFit/>
          </a:bodyPr>
          <a:lstStyle/>
          <a:p>
            <a:pPr>
              <a:spcBef>
                <a:spcPts val="0"/>
              </a:spcBef>
              <a:spcAft>
                <a:spcPts val="800"/>
              </a:spcAft>
              <a:defRPr sz="1900" b="0">
                <a:solidFill>
                  <a:srgbClr val="172A3A"/>
                </a:solidFill>
                <a:latin typeface="DejaVu Sans"/>
              </a:defRPr>
            </a:pPr>
            <a:r>
              <a:t>LCD e diagnóstico</a:t>
            </a:r>
          </a:p>
        </p:txBody>
      </p:sp>
      <p:sp>
        <p:nvSpPr>
          <p:cNvPr id="32" name="TextBox 31"/>
          <p:cNvSpPr txBox="1"/>
          <p:nvPr/>
        </p:nvSpPr>
        <p:spPr>
          <a:xfrm>
            <a:off x="8613648" y="4535424"/>
            <a:ext cx="2560320" cy="393192"/>
          </a:xfrm>
          <a:prstGeom prst="rect">
            <a:avLst/>
          </a:prstGeom>
          <a:noFill/>
        </p:spPr>
        <p:txBody>
          <a:bodyPr wrap="square" lIns="0" rIns="0" tIns="0" bIns="0">
            <a:spAutoFit/>
          </a:bodyPr>
          <a:lstStyle/>
          <a:p>
            <a:pPr>
              <a:spcBef>
                <a:spcPts val="0"/>
              </a:spcBef>
              <a:spcAft>
                <a:spcPts val="800"/>
              </a:spcAft>
              <a:defRPr sz="1900" b="0">
                <a:solidFill>
                  <a:srgbClr val="172A3A"/>
                </a:solidFill>
                <a:latin typeface="DejaVu Sans"/>
              </a:defRPr>
            </a:pPr>
            <a:r>
              <a:t>Fila de snapshots</a:t>
            </a:r>
          </a:p>
        </p:txBody>
      </p:sp>
      <p:sp>
        <p:nvSpPr>
          <p:cNvPr id="33" name="TextBox 32"/>
          <p:cNvSpPr txBox="1"/>
          <p:nvPr/>
        </p:nvSpPr>
        <p:spPr>
          <a:xfrm>
            <a:off x="731520" y="5522976"/>
            <a:ext cx="10881360" cy="448056"/>
          </a:xfrm>
          <a:prstGeom prst="rect">
            <a:avLst/>
          </a:prstGeom>
          <a:noFill/>
        </p:spPr>
        <p:txBody>
          <a:bodyPr wrap="square" lIns="0" rIns="0" tIns="0" bIns="0">
            <a:spAutoFit/>
          </a:bodyPr>
          <a:lstStyle/>
          <a:p>
            <a:pPr>
              <a:spcBef>
                <a:spcPts val="0"/>
              </a:spcBef>
              <a:spcAft>
                <a:spcPts val="800"/>
              </a:spcAft>
              <a:defRPr sz="2200" b="1">
                <a:solidFill>
                  <a:srgbClr val="147D80"/>
                </a:solidFill>
                <a:latin typeface="DejaVu Sans"/>
              </a:defRPr>
            </a:pPr>
            <a:r>
              <a:t>Bloqueada no kernel ≠ esperando em um laço que ocupa a CPU.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147D80"/>
                </a:solidFill>
                <a:latin typeface="DejaVu Sans"/>
              </a:defRPr>
            </a:pPr>
            <a:r>
              <a:t>05 · COMUNICAÇÃO</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172A3A"/>
                </a:solidFill>
                <a:latin typeface="DejaVu Sans"/>
              </a:defRPr>
            </a:pPr>
            <a:r>
              <a:t>Mutex protege acesso; fila transporta informação</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586977"/>
                </a:solidFill>
                <a:latin typeface="DejaVu Sans"/>
              </a:defRPr>
            </a:pPr>
            <a:r>
              <a:t>A evolução central foi retirar a escrita compartilhada do estado civil.</a:t>
            </a:r>
          </a:p>
        </p:txBody>
      </p:sp>
      <p:sp>
        <p:nvSpPr>
          <p:cNvPr id="6" name="Rectangle 5"/>
          <p:cNvSpPr/>
          <p:nvPr/>
        </p:nvSpPr>
        <p:spPr>
          <a:xfrm>
            <a:off x="548640" y="6409944"/>
            <a:ext cx="11064240" cy="10972"/>
          </a:xfrm>
          <a:prstGeom prst="rect">
            <a:avLst/>
          </a:prstGeom>
          <a:solidFill>
            <a:srgbClr val="CCD7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586977"/>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586977"/>
                </a:solidFill>
                <a:latin typeface="DejaVu Sans"/>
              </a:defRPr>
            </a:pPr>
            <a:r>
              <a:t>06  /  16</a:t>
            </a:r>
          </a:p>
        </p:txBody>
      </p:sp>
      <p:sp>
        <p:nvSpPr>
          <p:cNvPr id="9" name="TextBox 8"/>
          <p:cNvSpPr txBox="1"/>
          <p:nvPr/>
        </p:nvSpPr>
        <p:spPr>
          <a:xfrm>
            <a:off x="548640" y="6153912"/>
            <a:ext cx="10972800" cy="182880"/>
          </a:xfrm>
          <a:prstGeom prst="rect">
            <a:avLst/>
          </a:prstGeom>
          <a:noFill/>
        </p:spPr>
        <p:txBody>
          <a:bodyPr wrap="square" lIns="0" rIns="0" tIns="0" bIns="0">
            <a:spAutoFit/>
          </a:bodyPr>
          <a:lstStyle/>
          <a:p>
            <a:pPr>
              <a:spcBef>
                <a:spcPts val="0"/>
              </a:spcBef>
              <a:spcAft>
                <a:spcPts val="800"/>
              </a:spcAft>
              <a:defRPr sz="950" b="0">
                <a:solidFill>
                  <a:srgbClr val="586977"/>
                </a:solidFill>
                <a:latin typeface="DejaVu Sans"/>
              </a:defRPr>
            </a:pPr>
            <a:r>
              <a:t>Fontes: versões preservadas · queue.h / queue.c · documentação de mutexes do FreeRTOS</a:t>
            </a:r>
          </a:p>
        </p:txBody>
      </p:sp>
      <p:sp>
        <p:nvSpPr>
          <p:cNvPr id="10" name="Rounded Rectangle 9"/>
          <p:cNvSpPr/>
          <p:nvPr/>
        </p:nvSpPr>
        <p:spPr>
          <a:xfrm>
            <a:off x="566928" y="1920240"/>
            <a:ext cx="5321808" cy="235000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920240"/>
            <a:ext cx="59436" cy="2350008"/>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084832"/>
            <a:ext cx="4919472"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Antes: mutex</a:t>
            </a:r>
          </a:p>
        </p:txBody>
      </p:sp>
      <p:sp>
        <p:nvSpPr>
          <p:cNvPr id="13" name="TextBox 12"/>
          <p:cNvSpPr txBox="1"/>
          <p:nvPr/>
        </p:nvSpPr>
        <p:spPr>
          <a:xfrm>
            <a:off x="768096" y="2752344"/>
            <a:ext cx="4919472" cy="1380743"/>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Adquirir → acessar → liberar.</a:t>
            </a:r>
          </a:p>
          <a:p>
            <a:pPr>
              <a:spcBef>
                <a:spcPts val="0"/>
              </a:spcBef>
              <a:spcAft>
                <a:spcPts val="800"/>
              </a:spcAft>
              <a:defRPr sz="1800" b="0">
                <a:solidFill>
                  <a:srgbClr val="586977"/>
                </a:solidFill>
                <a:latin typeface="DejaVu Sans"/>
              </a:defRPr>
            </a:pPr>
            <a:r>
              <a:t>Estrutura compartilhada.</a:t>
            </a:r>
          </a:p>
          <a:p>
            <a:pPr>
              <a:spcBef>
                <a:spcPts val="0"/>
              </a:spcBef>
              <a:spcAft>
                <a:spcPts val="800"/>
              </a:spcAft>
              <a:defRPr sz="1800" b="0">
                <a:solidFill>
                  <a:srgbClr val="586977"/>
                </a:solidFill>
                <a:latin typeface="DejaVu Sans"/>
              </a:defRPr>
            </a:pPr>
            <a:r>
              <a:t>Herança de prioridade no kernel.</a:t>
            </a:r>
          </a:p>
        </p:txBody>
      </p:sp>
      <p:sp>
        <p:nvSpPr>
          <p:cNvPr id="14" name="Rounded Rectangle 13"/>
          <p:cNvSpPr/>
          <p:nvPr/>
        </p:nvSpPr>
        <p:spPr>
          <a:xfrm>
            <a:off x="6126480" y="1920240"/>
            <a:ext cx="5468112" cy="235000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1920240"/>
            <a:ext cx="59436" cy="2350008"/>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2084832"/>
            <a:ext cx="5065776"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Agora: filas</a:t>
            </a:r>
          </a:p>
        </p:txBody>
      </p:sp>
      <p:sp>
        <p:nvSpPr>
          <p:cNvPr id="17" name="TextBox 16"/>
          <p:cNvSpPr txBox="1"/>
          <p:nvPr/>
        </p:nvSpPr>
        <p:spPr>
          <a:xfrm>
            <a:off x="6327648" y="2752344"/>
            <a:ext cx="5065776" cy="1380743"/>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Evento → controlador → cópia.</a:t>
            </a:r>
          </a:p>
          <a:p>
            <a:pPr>
              <a:spcBef>
                <a:spcPts val="0"/>
              </a:spcBef>
              <a:spcAft>
                <a:spcPts val="800"/>
              </a:spcAft>
              <a:defRPr sz="1800" b="0">
                <a:solidFill>
                  <a:srgbClr val="586977"/>
                </a:solidFill>
                <a:latin typeface="DejaVu Sans"/>
              </a:defRPr>
            </a:pPr>
            <a:r>
              <a:t>Estado privado do relógio.</a:t>
            </a:r>
          </a:p>
          <a:p>
            <a:pPr>
              <a:spcBef>
                <a:spcPts val="0"/>
              </a:spcBef>
              <a:spcAft>
                <a:spcPts val="800"/>
              </a:spcAft>
              <a:defRPr sz="1800" b="0">
                <a:solidFill>
                  <a:srgbClr val="586977"/>
                </a:solidFill>
                <a:latin typeface="DejaVu Sans"/>
              </a:defRPr>
            </a:pPr>
            <a:r>
              <a:t>LCD sem lock compartilhado.</a:t>
            </a:r>
          </a:p>
        </p:txBody>
      </p:sp>
      <p:sp>
        <p:nvSpPr>
          <p:cNvPr id="18" name="Rounded Rectangle 17"/>
          <p:cNvSpPr/>
          <p:nvPr/>
        </p:nvSpPr>
        <p:spPr>
          <a:xfrm>
            <a:off x="566928" y="4553712"/>
            <a:ext cx="5321808" cy="1115568"/>
          </a:xfrm>
          <a:prstGeom prst="roundRect">
            <a:avLst>
              <a:gd name="adj" fmla="val 10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 y="4709160"/>
            <a:ext cx="4800600" cy="777240"/>
          </a:xfrm>
          <a:prstGeom prst="rect">
            <a:avLst/>
          </a:prstGeom>
          <a:noFill/>
        </p:spPr>
        <p:txBody>
          <a:bodyPr wrap="square" lIns="0" rIns="0" tIns="0" bIns="0">
            <a:spAutoFit/>
          </a:bodyPr>
          <a:lstStyle/>
          <a:p>
            <a:pPr>
              <a:spcBef>
                <a:spcPts val="0"/>
              </a:spcBef>
              <a:spcAft>
                <a:spcPts val="800"/>
              </a:spcAft>
              <a:defRPr sz="1800" b="0">
                <a:solidFill>
                  <a:srgbClr val="147D80"/>
                </a:solidFill>
                <a:latin typeface="DejaVu Sans"/>
              </a:defRPr>
            </a:pPr>
            <a:r>
              <a:t>Entrada: FIFO de 16 eventos</a:t>
            </a:r>
          </a:p>
          <a:p>
            <a:pPr>
              <a:spcBef>
                <a:spcPts val="0"/>
              </a:spcBef>
              <a:spcAft>
                <a:spcPts val="800"/>
              </a:spcAft>
              <a:defRPr sz="1800" b="0">
                <a:solidFill>
                  <a:srgbClr val="147D80"/>
                </a:solidFill>
                <a:latin typeface="DejaVu Sans"/>
              </a:defRPr>
            </a:pPr>
            <a:r>
              <a:t>Preserva a ordem dos comandos aceitos.</a:t>
            </a:r>
          </a:p>
        </p:txBody>
      </p:sp>
      <p:sp>
        <p:nvSpPr>
          <p:cNvPr id="20" name="Rounded Rectangle 19"/>
          <p:cNvSpPr/>
          <p:nvPr/>
        </p:nvSpPr>
        <p:spPr>
          <a:xfrm>
            <a:off x="6126480" y="4553712"/>
            <a:ext cx="5468112" cy="1115568"/>
          </a:xfrm>
          <a:prstGeom prst="roundRect">
            <a:avLst>
              <a:gd name="adj" fmla="val 10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4709160"/>
            <a:ext cx="4956048" cy="777240"/>
          </a:xfrm>
          <a:prstGeom prst="rect">
            <a:avLst/>
          </a:prstGeom>
          <a:noFill/>
        </p:spPr>
        <p:txBody>
          <a:bodyPr wrap="square" lIns="0" rIns="0" tIns="0" bIns="0">
            <a:spAutoFit/>
          </a:bodyPr>
          <a:lstStyle/>
          <a:p>
            <a:pPr>
              <a:spcBef>
                <a:spcPts val="0"/>
              </a:spcBef>
              <a:spcAft>
                <a:spcPts val="800"/>
              </a:spcAft>
              <a:defRPr sz="1800" b="0">
                <a:solidFill>
                  <a:srgbClr val="147D80"/>
                </a:solidFill>
                <a:latin typeface="DejaVu Sans"/>
              </a:defRPr>
            </a:pPr>
            <a:r>
              <a:t>Saídas: xQueueOverwrite</a:t>
            </a:r>
          </a:p>
          <a:p>
            <a:pPr>
              <a:spcBef>
                <a:spcPts val="0"/>
              </a:spcBef>
              <a:spcAft>
                <a:spcPts val="800"/>
              </a:spcAft>
              <a:defRPr sz="1800" b="0">
                <a:solidFill>
                  <a:srgbClr val="147D80"/>
                </a:solidFill>
                <a:latin typeface="DejaVu Sans"/>
              </a:defRPr>
            </a:pPr>
            <a:r>
              <a:t>Conserva o estado mais recente.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F6C644"/>
                </a:solidFill>
                <a:latin typeface="DejaVu Sans"/>
              </a:defRPr>
            </a:pPr>
            <a:r>
              <a:t>06 · TEMPORIZAÇÃO</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FFFFFF"/>
                </a:solidFill>
                <a:latin typeface="DejaVu Sans"/>
              </a:defRPr>
            </a:pPr>
            <a:r>
              <a:t>Tick do RTOS e relógio civil são bases distintas</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CBD8E3"/>
                </a:solidFill>
                <a:latin typeface="DejaVu Sans"/>
              </a:defRPr>
            </a:pPr>
            <a:r>
              <a:t>Timer0, Timer1 e Timer2 têm funções diferentes nesta implementação.</a:t>
            </a:r>
          </a:p>
        </p:txBody>
      </p:sp>
      <p:sp>
        <p:nvSpPr>
          <p:cNvPr id="6" name="Rectangle 5"/>
          <p:cNvSpPr/>
          <p:nvPr/>
        </p:nvSpPr>
        <p:spPr>
          <a:xfrm>
            <a:off x="548640" y="6409944"/>
            <a:ext cx="11064240" cy="10972"/>
          </a:xfrm>
          <a:prstGeom prst="rect">
            <a:avLst/>
          </a:prstGeom>
          <a:solidFill>
            <a:srgbClr val="4B62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CBD8E3"/>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CBD8E3"/>
                </a:solidFill>
                <a:latin typeface="DejaVu Sans"/>
              </a:defRPr>
            </a:pPr>
            <a:r>
              <a:t>07  /  16</a:t>
            </a:r>
          </a:p>
        </p:txBody>
      </p:sp>
      <p:sp>
        <p:nvSpPr>
          <p:cNvPr id="9" name="TextBox 8"/>
          <p:cNvSpPr txBox="1"/>
          <p:nvPr/>
        </p:nvSpPr>
        <p:spPr>
          <a:xfrm>
            <a:off x="548640" y="6153912"/>
            <a:ext cx="10972800" cy="182880"/>
          </a:xfrm>
          <a:prstGeom prst="rect">
            <a:avLst/>
          </a:prstGeom>
          <a:noFill/>
        </p:spPr>
        <p:txBody>
          <a:bodyPr wrap="square" lIns="0" rIns="0" tIns="0" bIns="0">
            <a:spAutoFit/>
          </a:bodyPr>
          <a:lstStyle/>
          <a:p>
            <a:pPr>
              <a:spcBef>
                <a:spcPts val="0"/>
              </a:spcBef>
              <a:spcAft>
                <a:spcPts val="800"/>
              </a:spcAft>
              <a:defRPr sz="950" b="0">
                <a:solidFill>
                  <a:srgbClr val="CBD8E3"/>
                </a:solidFill>
                <a:latin typeface="DejaVu Sans"/>
              </a:defRPr>
            </a:pPr>
            <a:r>
              <a:t>Fontes: iniciarTempo() · FreeRTOSVariant.h · core AVR: wiring.c e Tone.cpp</a:t>
            </a:r>
          </a:p>
        </p:txBody>
      </p:sp>
      <p:sp>
        <p:nvSpPr>
          <p:cNvPr id="10" name="Rounded Rectangle 9"/>
          <p:cNvSpPr/>
          <p:nvPr/>
        </p:nvSpPr>
        <p:spPr>
          <a:xfrm>
            <a:off x="585216" y="1975104"/>
            <a:ext cx="5349240" cy="1636776"/>
          </a:xfrm>
          <a:prstGeom prst="roundRect">
            <a:avLst>
              <a:gd name="adj" fmla="val 10000"/>
            </a:avLst>
          </a:prstGeom>
          <a:solidFill>
            <a:srgbClr val="233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5216" y="1975104"/>
            <a:ext cx="59436" cy="1636776"/>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2139696"/>
            <a:ext cx="4946903" cy="502920"/>
          </a:xfrm>
          <a:prstGeom prst="rect">
            <a:avLst/>
          </a:prstGeom>
          <a:noFill/>
        </p:spPr>
        <p:txBody>
          <a:bodyPr wrap="square" lIns="0" rIns="0" tIns="0" bIns="0">
            <a:spAutoFit/>
          </a:bodyPr>
          <a:lstStyle/>
          <a:p>
            <a:pPr>
              <a:spcBef>
                <a:spcPts val="0"/>
              </a:spcBef>
              <a:spcAft>
                <a:spcPts val="800"/>
              </a:spcAft>
              <a:defRPr sz="2000" b="1">
                <a:solidFill>
                  <a:srgbClr val="FFFFFF"/>
                </a:solidFill>
                <a:latin typeface="DejaVu Sans"/>
              </a:defRPr>
            </a:pPr>
            <a:r>
              <a:t>Watchdog → escalonador</a:t>
            </a:r>
          </a:p>
        </p:txBody>
      </p:sp>
      <p:sp>
        <p:nvSpPr>
          <p:cNvPr id="13" name="TextBox 12"/>
          <p:cNvSpPr txBox="1"/>
          <p:nvPr/>
        </p:nvSpPr>
        <p:spPr>
          <a:xfrm>
            <a:off x="786384" y="2807208"/>
            <a:ext cx="4946903" cy="667512"/>
          </a:xfrm>
          <a:prstGeom prst="rect">
            <a:avLst/>
          </a:prstGeom>
          <a:noFill/>
        </p:spPr>
        <p:txBody>
          <a:bodyPr wrap="square" lIns="0" rIns="0" tIns="0" bIns="0">
            <a:spAutoFit/>
          </a:bodyPr>
          <a:lstStyle/>
          <a:p>
            <a:pPr>
              <a:spcBef>
                <a:spcPts val="0"/>
              </a:spcBef>
              <a:spcAft>
                <a:spcPts val="800"/>
              </a:spcAft>
              <a:defRPr sz="1800" b="0">
                <a:solidFill>
                  <a:srgbClr val="DCE6ED"/>
                </a:solidFill>
                <a:latin typeface="DejaVu Sans"/>
              </a:defRPr>
            </a:pPr>
            <a:r>
              <a:t>Tick nominal ≈ 16 ms.</a:t>
            </a:r>
          </a:p>
          <a:p>
            <a:pPr>
              <a:spcBef>
                <a:spcPts val="0"/>
              </a:spcBef>
              <a:spcAft>
                <a:spcPts val="800"/>
              </a:spcAft>
              <a:defRPr sz="1800" b="0">
                <a:solidFill>
                  <a:srgbClr val="DCE6ED"/>
                </a:solidFill>
                <a:latin typeface="DejaVu Sans"/>
              </a:defRPr>
            </a:pPr>
            <a:r>
              <a:t>Agenda esperas e tarefas.</a:t>
            </a:r>
          </a:p>
        </p:txBody>
      </p:sp>
      <p:sp>
        <p:nvSpPr>
          <p:cNvPr id="14" name="Rounded Rectangle 13"/>
          <p:cNvSpPr/>
          <p:nvPr/>
        </p:nvSpPr>
        <p:spPr>
          <a:xfrm>
            <a:off x="6181344" y="1975104"/>
            <a:ext cx="5358384" cy="1636776"/>
          </a:xfrm>
          <a:prstGeom prst="roundRect">
            <a:avLst>
              <a:gd name="adj" fmla="val 10000"/>
            </a:avLst>
          </a:prstGeom>
          <a:solidFill>
            <a:srgbClr val="233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1344" y="1975104"/>
            <a:ext cx="59436" cy="1636776"/>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2139696"/>
            <a:ext cx="4956048" cy="502920"/>
          </a:xfrm>
          <a:prstGeom prst="rect">
            <a:avLst/>
          </a:prstGeom>
          <a:noFill/>
        </p:spPr>
        <p:txBody>
          <a:bodyPr wrap="square" lIns="0" rIns="0" tIns="0" bIns="0">
            <a:spAutoFit/>
          </a:bodyPr>
          <a:lstStyle/>
          <a:p>
            <a:pPr>
              <a:spcBef>
                <a:spcPts val="0"/>
              </a:spcBef>
              <a:spcAft>
                <a:spcPts val="800"/>
              </a:spcAft>
              <a:defRPr sz="2000" b="1">
                <a:solidFill>
                  <a:srgbClr val="FFFFFF"/>
                </a:solidFill>
                <a:latin typeface="DejaVu Sans"/>
              </a:defRPr>
            </a:pPr>
            <a:r>
              <a:t>Timer1 → calendário</a:t>
            </a:r>
          </a:p>
        </p:txBody>
      </p:sp>
      <p:sp>
        <p:nvSpPr>
          <p:cNvPr id="17" name="TextBox 16"/>
          <p:cNvSpPr txBox="1"/>
          <p:nvPr/>
        </p:nvSpPr>
        <p:spPr>
          <a:xfrm>
            <a:off x="6382512" y="2807208"/>
            <a:ext cx="4956048" cy="667512"/>
          </a:xfrm>
          <a:prstGeom prst="rect">
            <a:avLst/>
          </a:prstGeom>
          <a:noFill/>
        </p:spPr>
        <p:txBody>
          <a:bodyPr wrap="square" lIns="0" rIns="0" tIns="0" bIns="0">
            <a:spAutoFit/>
          </a:bodyPr>
          <a:lstStyle/>
          <a:p>
            <a:pPr>
              <a:spcBef>
                <a:spcPts val="0"/>
              </a:spcBef>
              <a:spcAft>
                <a:spcPts val="800"/>
              </a:spcAft>
              <a:defRPr sz="1800" b="0">
                <a:solidFill>
                  <a:srgbClr val="DCE6ED"/>
                </a:solidFill>
                <a:latin typeface="DejaVu Sans"/>
              </a:defRPr>
            </a:pPr>
            <a:r>
              <a:t>CTC a 100 Hz.</a:t>
            </a:r>
          </a:p>
          <a:p>
            <a:pPr>
              <a:spcBef>
                <a:spcPts val="0"/>
              </a:spcBef>
              <a:spcAft>
                <a:spcPts val="800"/>
              </a:spcAft>
              <a:defRPr sz="1800" b="0">
                <a:solidFill>
                  <a:srgbClr val="DCE6ED"/>
                </a:solidFill>
                <a:latin typeface="DejaVu Sans"/>
              </a:defRPr>
            </a:pPr>
            <a:r>
              <a:t>Uma contagem nominal a cada 10 ms.</a:t>
            </a:r>
          </a:p>
        </p:txBody>
      </p:sp>
      <p:sp>
        <p:nvSpPr>
          <p:cNvPr id="18" name="Rounded Rectangle 17"/>
          <p:cNvSpPr/>
          <p:nvPr/>
        </p:nvSpPr>
        <p:spPr>
          <a:xfrm>
            <a:off x="585216" y="3840480"/>
            <a:ext cx="5349240" cy="1636776"/>
          </a:xfrm>
          <a:prstGeom prst="roundRect">
            <a:avLst>
              <a:gd name="adj" fmla="val 10000"/>
            </a:avLst>
          </a:prstGeom>
          <a:solidFill>
            <a:srgbClr val="233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5216" y="3840480"/>
            <a:ext cx="59436" cy="1636776"/>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4005072"/>
            <a:ext cx="4946903" cy="502920"/>
          </a:xfrm>
          <a:prstGeom prst="rect">
            <a:avLst/>
          </a:prstGeom>
          <a:noFill/>
        </p:spPr>
        <p:txBody>
          <a:bodyPr wrap="square" lIns="0" rIns="0" tIns="0" bIns="0">
            <a:spAutoFit/>
          </a:bodyPr>
          <a:lstStyle/>
          <a:p>
            <a:pPr>
              <a:spcBef>
                <a:spcPts val="0"/>
              </a:spcBef>
              <a:spcAft>
                <a:spcPts val="800"/>
              </a:spcAft>
              <a:defRPr sz="2000" b="1">
                <a:solidFill>
                  <a:srgbClr val="FFFFFF"/>
                </a:solidFill>
                <a:latin typeface="DejaVu Sans"/>
              </a:defRPr>
            </a:pPr>
            <a:r>
              <a:t>Timer0 → millis()</a:t>
            </a:r>
          </a:p>
        </p:txBody>
      </p:sp>
      <p:sp>
        <p:nvSpPr>
          <p:cNvPr id="21" name="TextBox 20"/>
          <p:cNvSpPr txBox="1"/>
          <p:nvPr/>
        </p:nvSpPr>
        <p:spPr>
          <a:xfrm>
            <a:off x="786384" y="4672584"/>
            <a:ext cx="4946903" cy="667512"/>
          </a:xfrm>
          <a:prstGeom prst="rect">
            <a:avLst/>
          </a:prstGeom>
          <a:noFill/>
        </p:spPr>
        <p:txBody>
          <a:bodyPr wrap="square" lIns="0" rIns="0" tIns="0" bIns="0">
            <a:spAutoFit/>
          </a:bodyPr>
          <a:lstStyle/>
          <a:p>
            <a:pPr>
              <a:spcBef>
                <a:spcPts val="0"/>
              </a:spcBef>
              <a:spcAft>
                <a:spcPts val="800"/>
              </a:spcAft>
              <a:defRPr sz="1800" b="0">
                <a:solidFill>
                  <a:srgbClr val="DCE6ED"/>
                </a:solidFill>
                <a:latin typeface="DejaVu Sans"/>
              </a:defRPr>
            </a:pPr>
            <a:r>
              <a:t>Base do core Arduino.</a:t>
            </a:r>
          </a:p>
          <a:p>
            <a:pPr>
              <a:spcBef>
                <a:spcPts val="0"/>
              </a:spcBef>
              <a:spcAft>
                <a:spcPts val="800"/>
              </a:spcAft>
              <a:defRPr sz="1800" b="0">
                <a:solidFill>
                  <a:srgbClr val="DCE6ED"/>
                </a:solidFill>
                <a:latin typeface="DejaVu Sans"/>
              </a:defRPr>
            </a:pPr>
            <a:r>
              <a:t>Diagnóstico; não é o RTC do projeto.</a:t>
            </a:r>
          </a:p>
        </p:txBody>
      </p:sp>
      <p:sp>
        <p:nvSpPr>
          <p:cNvPr id="22" name="Rounded Rectangle 21"/>
          <p:cNvSpPr/>
          <p:nvPr/>
        </p:nvSpPr>
        <p:spPr>
          <a:xfrm>
            <a:off x="6181344" y="3840480"/>
            <a:ext cx="5358384" cy="1636776"/>
          </a:xfrm>
          <a:prstGeom prst="roundRect">
            <a:avLst>
              <a:gd name="adj" fmla="val 10000"/>
            </a:avLst>
          </a:prstGeom>
          <a:solidFill>
            <a:srgbClr val="233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1344" y="3840480"/>
            <a:ext cx="59436" cy="1636776"/>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4005072"/>
            <a:ext cx="4956048" cy="502920"/>
          </a:xfrm>
          <a:prstGeom prst="rect">
            <a:avLst/>
          </a:prstGeom>
          <a:noFill/>
        </p:spPr>
        <p:txBody>
          <a:bodyPr wrap="square" lIns="0" rIns="0" tIns="0" bIns="0">
            <a:spAutoFit/>
          </a:bodyPr>
          <a:lstStyle/>
          <a:p>
            <a:pPr>
              <a:spcBef>
                <a:spcPts val="0"/>
              </a:spcBef>
              <a:spcAft>
                <a:spcPts val="800"/>
              </a:spcAft>
              <a:defRPr sz="2000" b="1">
                <a:solidFill>
                  <a:srgbClr val="FFFFFF"/>
                </a:solidFill>
                <a:latin typeface="DejaVu Sans"/>
              </a:defRPr>
            </a:pPr>
            <a:r>
              <a:t>Timer2 → tone()</a:t>
            </a:r>
          </a:p>
        </p:txBody>
      </p:sp>
      <p:sp>
        <p:nvSpPr>
          <p:cNvPr id="25" name="TextBox 24"/>
          <p:cNvSpPr txBox="1"/>
          <p:nvPr/>
        </p:nvSpPr>
        <p:spPr>
          <a:xfrm>
            <a:off x="6382512" y="4672584"/>
            <a:ext cx="4956048" cy="667512"/>
          </a:xfrm>
          <a:prstGeom prst="rect">
            <a:avLst/>
          </a:prstGeom>
          <a:noFill/>
        </p:spPr>
        <p:txBody>
          <a:bodyPr wrap="square" lIns="0" rIns="0" tIns="0" bIns="0">
            <a:spAutoFit/>
          </a:bodyPr>
          <a:lstStyle/>
          <a:p>
            <a:pPr>
              <a:spcBef>
                <a:spcPts val="0"/>
              </a:spcBef>
              <a:spcAft>
                <a:spcPts val="800"/>
              </a:spcAft>
              <a:defRPr sz="1800" b="0">
                <a:solidFill>
                  <a:srgbClr val="DCE6ED"/>
                </a:solidFill>
                <a:latin typeface="DejaVu Sans"/>
              </a:defRPr>
            </a:pPr>
            <a:r>
              <a:t>Geração da onda de áudio.</a:t>
            </a:r>
          </a:p>
          <a:p>
            <a:pPr>
              <a:spcBef>
                <a:spcPts val="0"/>
              </a:spcBef>
              <a:spcAft>
                <a:spcPts val="800"/>
              </a:spcAft>
              <a:defRPr sz="1800" b="0">
                <a:solidFill>
                  <a:srgbClr val="DCE6ED"/>
                </a:solidFill>
                <a:latin typeface="DejaVu Sans"/>
              </a:defRPr>
            </a:pPr>
            <a:r>
              <a:t>Buzzer a 2 kHz durante a fase ativa.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147D80"/>
                </a:solidFill>
                <a:latin typeface="DejaVu Sans"/>
              </a:defRPr>
            </a:pPr>
            <a:r>
              <a:t>07 · CONCORRÊNCIA COM INTERRUPÇÕES</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172A3A"/>
                </a:solidFill>
                <a:latin typeface="DejaVu Sans"/>
              </a:defRPr>
            </a:pPr>
            <a:r>
              <a:t>A ISR registra tempo; a tarefa atualiza o calendário</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586977"/>
                </a:solidFill>
                <a:latin typeface="DejaVu Sans"/>
              </a:defRPr>
            </a:pPr>
            <a:r>
              <a:t>Prescaler = 64  ·  OCR1A = 2499  ·  clock nominal = 16 MHz</a:t>
            </a:r>
          </a:p>
        </p:txBody>
      </p:sp>
      <p:sp>
        <p:nvSpPr>
          <p:cNvPr id="6" name="Rectangle 5"/>
          <p:cNvSpPr/>
          <p:nvPr/>
        </p:nvSpPr>
        <p:spPr>
          <a:xfrm>
            <a:off x="548640" y="6409944"/>
            <a:ext cx="11064240" cy="10972"/>
          </a:xfrm>
          <a:prstGeom prst="rect">
            <a:avLst/>
          </a:prstGeom>
          <a:solidFill>
            <a:srgbClr val="CCD7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586977"/>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586977"/>
                </a:solidFill>
                <a:latin typeface="DejaVu Sans"/>
              </a:defRPr>
            </a:pPr>
            <a:r>
              <a:t>08  /  16</a:t>
            </a:r>
          </a:p>
        </p:txBody>
      </p:sp>
      <p:sp>
        <p:nvSpPr>
          <p:cNvPr id="9" name="TextBox 8"/>
          <p:cNvSpPr txBox="1"/>
          <p:nvPr/>
        </p:nvSpPr>
        <p:spPr>
          <a:xfrm>
            <a:off x="548640" y="6153912"/>
            <a:ext cx="10972800" cy="182880"/>
          </a:xfrm>
          <a:prstGeom prst="rect">
            <a:avLst/>
          </a:prstGeom>
          <a:noFill/>
        </p:spPr>
        <p:txBody>
          <a:bodyPr wrap="square" lIns="0" rIns="0" tIns="0" bIns="0">
            <a:spAutoFit/>
          </a:bodyPr>
          <a:lstStyle/>
          <a:p>
            <a:pPr>
              <a:spcBef>
                <a:spcPts val="0"/>
              </a:spcBef>
              <a:spcAft>
                <a:spcPts val="800"/>
              </a:spcAft>
              <a:defRPr sz="950" b="0">
                <a:solidFill>
                  <a:srgbClr val="586977"/>
                </a:solidFill>
                <a:latin typeface="DejaVu Sans"/>
              </a:defRPr>
            </a:pPr>
            <a:r>
              <a:t>Trechos de RelogioFinal.ino · lerTempo() e tarefaRelogio()</a:t>
            </a:r>
          </a:p>
        </p:txBody>
      </p:sp>
      <p:sp>
        <p:nvSpPr>
          <p:cNvPr id="10" name="Rounded Rectangle 9"/>
          <p:cNvSpPr/>
          <p:nvPr/>
        </p:nvSpPr>
        <p:spPr>
          <a:xfrm>
            <a:off x="585216" y="1947672"/>
            <a:ext cx="10981944" cy="667512"/>
          </a:xfrm>
          <a:prstGeom prst="roundRect">
            <a:avLst>
              <a:gd name="adj" fmla="val 10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093976"/>
            <a:ext cx="10488168" cy="384048"/>
          </a:xfrm>
          <a:prstGeom prst="rect">
            <a:avLst/>
          </a:prstGeom>
          <a:noFill/>
        </p:spPr>
        <p:txBody>
          <a:bodyPr wrap="square" lIns="0" rIns="0" tIns="0" bIns="0">
            <a:spAutoFit/>
          </a:bodyPr>
          <a:lstStyle/>
          <a:p>
            <a:pPr algn="ctr">
              <a:spcBef>
                <a:spcPts val="0"/>
              </a:spcBef>
              <a:spcAft>
                <a:spcPts val="800"/>
              </a:spcAft>
              <a:defRPr sz="2500" b="1">
                <a:solidFill>
                  <a:srgbClr val="147D80"/>
                </a:solidFill>
                <a:latin typeface="DejaVu Sans"/>
              </a:defRPr>
            </a:pPr>
            <a:r>
              <a:t>16.000.000 / [64 × (2499 + 1)] = 100 Hz</a:t>
            </a:r>
          </a:p>
        </p:txBody>
      </p:sp>
      <p:sp>
        <p:nvSpPr>
          <p:cNvPr id="12" name="Rounded Rectangle 11"/>
          <p:cNvSpPr/>
          <p:nvPr/>
        </p:nvSpPr>
        <p:spPr>
          <a:xfrm>
            <a:off x="585216" y="2880360"/>
            <a:ext cx="5340096" cy="2240280"/>
          </a:xfrm>
          <a:prstGeom prst="roundRect">
            <a:avLst>
              <a:gd name="adj" fmla="val 10000"/>
            </a:avLst>
          </a:prstGeom>
          <a:solidFill>
            <a:srgbClr val="1426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3081528"/>
            <a:ext cx="4919472" cy="1920240"/>
          </a:xfrm>
          <a:prstGeom prst="rect">
            <a:avLst/>
          </a:prstGeom>
          <a:noFill/>
        </p:spPr>
        <p:txBody>
          <a:bodyPr wrap="square" lIns="0" rIns="0" tIns="0" bIns="0">
            <a:spAutoFit/>
          </a:bodyPr>
          <a:lstStyle/>
          <a:p>
            <a:pPr>
              <a:spcBef>
                <a:spcPts val="0"/>
              </a:spcBef>
              <a:spcAft>
                <a:spcPts val="200"/>
              </a:spcAft>
              <a:defRPr sz="1500" b="0">
                <a:solidFill>
                  <a:srgbClr val="FFFFFF"/>
                </a:solidFill>
                <a:latin typeface="DejaVu Sans Mono"/>
              </a:defRPr>
            </a:pPr>
            <a:r>
              <a:t>ISR(TIMER1_COMPA_vect) {</a:t>
            </a:r>
          </a:p>
          <a:p>
            <a:pPr>
              <a:spcBef>
                <a:spcPts val="0"/>
              </a:spcBef>
              <a:spcAft>
                <a:spcPts val="200"/>
              </a:spcAft>
              <a:defRPr sz="1500" b="0">
                <a:solidFill>
                  <a:srgbClr val="FFFFFF"/>
                </a:solidFill>
                <a:latin typeface="DejaVu Sans Mono"/>
              </a:defRPr>
            </a:pPr>
            <a:r>
              <a:t>  ++ticks100Hz;</a:t>
            </a:r>
          </a:p>
          <a:p>
            <a:pPr>
              <a:spcBef>
                <a:spcPts val="0"/>
              </a:spcBef>
              <a:spcAft>
                <a:spcPts val="200"/>
              </a:spcAft>
              <a:defRPr sz="1500" b="0">
                <a:solidFill>
                  <a:srgbClr val="FFFFFF"/>
                </a:solidFill>
                <a:latin typeface="DejaVu Sans Mono"/>
              </a:defRPr>
            </a:pPr>
            <a:r>
              <a:t>}</a:t>
            </a:r>
          </a:p>
          <a:p>
            <a:pPr>
              <a:spcBef>
                <a:spcPts val="0"/>
              </a:spcBef>
              <a:spcAft>
                <a:spcPts val="200"/>
              </a:spcAft>
              <a:defRPr sz="1500" b="0">
                <a:solidFill>
                  <a:srgbClr val="FFFFFF"/>
                </a:solidFill>
                <a:latin typeface="DejaVu Sans Mono"/>
              </a:defRPr>
            </a:pPr>
          </a:p>
          <a:p>
            <a:pPr>
              <a:spcBef>
                <a:spcPts val="0"/>
              </a:spcBef>
              <a:spcAft>
                <a:spcPts val="200"/>
              </a:spcAft>
              <a:defRPr sz="1500" b="0">
                <a:solidFill>
                  <a:srgbClr val="FFFFFF"/>
                </a:solidFill>
                <a:latin typeface="DejaVu Sans Mono"/>
              </a:defRPr>
            </a:pPr>
            <a:r>
              <a:t>ATOMIC_BLOCK(ATOMIC_RESTORESTATE) {</a:t>
            </a:r>
          </a:p>
          <a:p>
            <a:pPr>
              <a:spcBef>
                <a:spcPts val="0"/>
              </a:spcBef>
              <a:spcAft>
                <a:spcPts val="200"/>
              </a:spcAft>
              <a:defRPr sz="1500" b="0">
                <a:solidFill>
                  <a:srgbClr val="FFFFFF"/>
                </a:solidFill>
                <a:latin typeface="DejaVu Sans Mono"/>
              </a:defRPr>
            </a:pPr>
            <a:r>
              <a:t>  copia = ticks100Hz;</a:t>
            </a:r>
          </a:p>
          <a:p>
            <a:pPr>
              <a:spcBef>
                <a:spcPts val="0"/>
              </a:spcBef>
              <a:spcAft>
                <a:spcPts val="200"/>
              </a:spcAft>
              <a:defRPr sz="1500" b="0">
                <a:solidFill>
                  <a:srgbClr val="FFFFFF"/>
                </a:solidFill>
                <a:latin typeface="DejaVu Sans Mono"/>
              </a:defRPr>
            </a:pPr>
            <a:r>
              <a:t>}</a:t>
            </a:r>
          </a:p>
        </p:txBody>
      </p:sp>
      <p:sp>
        <p:nvSpPr>
          <p:cNvPr id="14" name="Rounded Rectangle 13"/>
          <p:cNvSpPr/>
          <p:nvPr/>
        </p:nvSpPr>
        <p:spPr>
          <a:xfrm>
            <a:off x="6181344" y="2880360"/>
            <a:ext cx="5385816" cy="22402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1344" y="2880360"/>
            <a:ext cx="59436" cy="2240280"/>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3044952"/>
            <a:ext cx="4983479"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Leitura íntegra no AVR</a:t>
            </a:r>
          </a:p>
        </p:txBody>
      </p:sp>
      <p:sp>
        <p:nvSpPr>
          <p:cNvPr id="17" name="TextBox 16"/>
          <p:cNvSpPr txBox="1"/>
          <p:nvPr/>
        </p:nvSpPr>
        <p:spPr>
          <a:xfrm>
            <a:off x="6382512" y="3712463"/>
            <a:ext cx="4983479" cy="1271016"/>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Contador de 32 bits em CPU de 8 bits.</a:t>
            </a:r>
          </a:p>
          <a:p>
            <a:pPr>
              <a:spcBef>
                <a:spcPts val="0"/>
              </a:spcBef>
              <a:spcAft>
                <a:spcPts val="800"/>
              </a:spcAft>
              <a:defRPr sz="1800" b="0">
                <a:solidFill>
                  <a:srgbClr val="586977"/>
                </a:solidFill>
                <a:latin typeface="DejaVu Sans"/>
              </a:defRPr>
            </a:pPr>
            <a:r>
              <a:t>volatile não basta: leitura atômica.</a:t>
            </a:r>
          </a:p>
          <a:p>
            <a:pPr>
              <a:spcBef>
                <a:spcPts val="0"/>
              </a:spcBef>
              <a:spcAft>
                <a:spcPts val="800"/>
              </a:spcAft>
              <a:defRPr sz="1800" b="0">
                <a:solidFill>
                  <a:srgbClr val="586977"/>
                </a:solidFill>
                <a:latin typeface="DejaVu Sans"/>
              </a:defRPr>
            </a:pPr>
            <a:r>
              <a:t>LCD fora da seção crítica.</a:t>
            </a:r>
          </a:p>
        </p:txBody>
      </p:sp>
      <p:sp>
        <p:nvSpPr>
          <p:cNvPr id="18" name="Rounded Rectangle 17"/>
          <p:cNvSpPr/>
          <p:nvPr/>
        </p:nvSpPr>
        <p:spPr>
          <a:xfrm>
            <a:off x="585216" y="5376672"/>
            <a:ext cx="10981944" cy="539496"/>
          </a:xfrm>
          <a:prstGeom prst="roundRect">
            <a:avLst>
              <a:gd name="adj" fmla="val 10000"/>
            </a:avLst>
          </a:prstGeom>
          <a:solidFill>
            <a:srgbClr val="E8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486400"/>
            <a:ext cx="10460736" cy="329184"/>
          </a:xfrm>
          <a:prstGeom prst="rect">
            <a:avLst/>
          </a:prstGeom>
          <a:noFill/>
        </p:spPr>
        <p:txBody>
          <a:bodyPr wrap="square" lIns="0" rIns="0" tIns="0" bIns="0">
            <a:spAutoFit/>
          </a:bodyPr>
          <a:lstStyle/>
          <a:p>
            <a:pPr algn="ctr">
              <a:spcBef>
                <a:spcPts val="0"/>
              </a:spcBef>
              <a:spcAft>
                <a:spcPts val="800"/>
              </a:spcAft>
              <a:defRPr sz="2100" b="1">
                <a:solidFill>
                  <a:srgbClr val="172A3A"/>
                </a:solidFill>
                <a:latin typeface="DejaVu Sans"/>
              </a:defRPr>
            </a:pPr>
            <a:r>
              <a:t>agora − anterior  →  contagens decorridas  →  calendário e prazos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147D80"/>
                </a:solidFill>
                <a:latin typeface="DejaVu Sans"/>
              </a:defRPr>
            </a:pPr>
            <a:r>
              <a:t>08 · INTERFACE POR EVENTOS</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172A3A"/>
                </a:solidFill>
                <a:latin typeface="DejaVu Sans"/>
              </a:defRPr>
            </a:pPr>
            <a:r>
              <a:t>Editar o alarme não interrompe o relógio</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586977"/>
                </a:solidFill>
                <a:latin typeface="DejaVu Sans"/>
              </a:defRPr>
            </a:pPr>
            <a:r>
              <a:t>A edição usa um rascunho; somente o controlador aplica a configuração.</a:t>
            </a:r>
          </a:p>
        </p:txBody>
      </p:sp>
      <p:sp>
        <p:nvSpPr>
          <p:cNvPr id="6" name="Rectangle 5"/>
          <p:cNvSpPr/>
          <p:nvPr/>
        </p:nvSpPr>
        <p:spPr>
          <a:xfrm>
            <a:off x="548640" y="6409944"/>
            <a:ext cx="11064240" cy="10972"/>
          </a:xfrm>
          <a:prstGeom prst="rect">
            <a:avLst/>
          </a:prstGeom>
          <a:solidFill>
            <a:srgbClr val="CCD7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586977"/>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586977"/>
                </a:solidFill>
                <a:latin typeface="DejaVu Sans"/>
              </a:defRPr>
            </a:pPr>
            <a:r>
              <a:t>09  /  16</a:t>
            </a:r>
          </a:p>
        </p:txBody>
      </p:sp>
      <p:sp>
        <p:nvSpPr>
          <p:cNvPr id="9" name="TextBox 8"/>
          <p:cNvSpPr txBox="1"/>
          <p:nvPr/>
        </p:nvSpPr>
        <p:spPr>
          <a:xfrm>
            <a:off x="548640" y="6153912"/>
            <a:ext cx="10972800" cy="182880"/>
          </a:xfrm>
          <a:prstGeom prst="rect">
            <a:avLst/>
          </a:prstGeom>
          <a:noFill/>
        </p:spPr>
        <p:txBody>
          <a:bodyPr wrap="square" lIns="0" rIns="0" tIns="0" bIns="0">
            <a:spAutoFit/>
          </a:bodyPr>
          <a:lstStyle/>
          <a:p>
            <a:pPr>
              <a:spcBef>
                <a:spcPts val="0"/>
              </a:spcBef>
              <a:spcAft>
                <a:spcPts val="800"/>
              </a:spcAft>
              <a:defRPr sz="950" b="0">
                <a:solidFill>
                  <a:srgbClr val="586977"/>
                </a:solidFill>
                <a:latin typeface="DejaVu Sans"/>
              </a:defRPr>
            </a:pPr>
            <a:r>
              <a:t>Fonte: RelogioTipos.h · Botao::ler(), Eixo::ler() · comandar()</a:t>
            </a:r>
          </a:p>
        </p:txBody>
      </p:sp>
      <p:pic>
        <p:nvPicPr>
          <p:cNvPr id="10" name="Picture 9" descr="04_edicao_segundos.jpg"/>
          <p:cNvPicPr>
            <a:picLocks noChangeAspect="1"/>
          </p:cNvPicPr>
          <p:nvPr/>
        </p:nvPicPr>
        <p:blipFill>
          <a:blip r:embed="rId2"/>
          <a:stretch>
            <a:fillRect/>
          </a:stretch>
        </p:blipFill>
        <p:spPr>
          <a:xfrm>
            <a:off x="706145" y="1856231"/>
            <a:ext cx="1806397" cy="4014215"/>
          </a:xfrm>
          <a:prstGeom prst="rect">
            <a:avLst/>
          </a:prstGeom>
        </p:spPr>
      </p:pic>
      <p:pic>
        <p:nvPicPr>
          <p:cNvPr id="11" name="Picture 10" descr="08_edicao_alarme.jpg"/>
          <p:cNvPicPr>
            <a:picLocks noChangeAspect="1"/>
          </p:cNvPicPr>
          <p:nvPr/>
        </p:nvPicPr>
        <p:blipFill>
          <a:blip r:embed="rId3"/>
          <a:stretch>
            <a:fillRect/>
          </a:stretch>
        </p:blipFill>
        <p:spPr>
          <a:xfrm>
            <a:off x="2827553" y="1856231"/>
            <a:ext cx="1806397" cy="4014215"/>
          </a:xfrm>
          <a:prstGeom prst="rect">
            <a:avLst/>
          </a:prstGeom>
        </p:spPr>
      </p:pic>
      <p:sp>
        <p:nvSpPr>
          <p:cNvPr id="12" name="Rounded Rectangle 11"/>
          <p:cNvSpPr/>
          <p:nvPr/>
        </p:nvSpPr>
        <p:spPr>
          <a:xfrm>
            <a:off x="5138928" y="1892807"/>
            <a:ext cx="6373368" cy="2093976"/>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38928" y="1892807"/>
            <a:ext cx="59436" cy="2093976"/>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40096" y="2057400"/>
            <a:ext cx="5971031"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Navegação</a:t>
            </a:r>
          </a:p>
        </p:txBody>
      </p:sp>
      <p:sp>
        <p:nvSpPr>
          <p:cNvPr id="15" name="TextBox 14"/>
          <p:cNvSpPr txBox="1"/>
          <p:nvPr/>
        </p:nvSpPr>
        <p:spPr>
          <a:xfrm>
            <a:off x="5340096" y="2724912"/>
            <a:ext cx="5971031" cy="1124712"/>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 / →  escolhe o campo</a:t>
            </a:r>
          </a:p>
          <a:p>
            <a:pPr>
              <a:spcBef>
                <a:spcPts val="0"/>
              </a:spcBef>
              <a:spcAft>
                <a:spcPts val="800"/>
              </a:spcAft>
              <a:defRPr sz="1800" b="0">
                <a:solidFill>
                  <a:srgbClr val="586977"/>
                </a:solidFill>
                <a:latin typeface="DejaVu Sans"/>
              </a:defRPr>
            </a:pPr>
            <a:r>
              <a:t>↑ / ↓  altera o valor</a:t>
            </a:r>
          </a:p>
          <a:p>
            <a:pPr>
              <a:spcBef>
                <a:spcPts val="0"/>
              </a:spcBef>
              <a:spcAft>
                <a:spcPts val="800"/>
              </a:spcAft>
              <a:defRPr sz="1800" b="0">
                <a:solidFill>
                  <a:srgbClr val="586977"/>
                </a:solidFill>
                <a:latin typeface="DejaVu Sans"/>
              </a:defRPr>
            </a:pPr>
            <a:r>
              <a:t>SEL salva  ·  D5 cancela a edição</a:t>
            </a:r>
          </a:p>
        </p:txBody>
      </p:sp>
      <p:sp>
        <p:nvSpPr>
          <p:cNvPr id="16" name="Rounded Rectangle 15"/>
          <p:cNvSpPr/>
          <p:nvPr/>
        </p:nvSpPr>
        <p:spPr>
          <a:xfrm>
            <a:off x="5138928" y="4233672"/>
            <a:ext cx="6373368" cy="1609344"/>
          </a:xfrm>
          <a:prstGeom prst="roundRect">
            <a:avLst>
              <a:gd name="adj" fmla="val 10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85816" y="4407408"/>
            <a:ext cx="5852160" cy="1289304"/>
          </a:xfrm>
          <a:prstGeom prst="rect">
            <a:avLst/>
          </a:prstGeom>
          <a:noFill/>
        </p:spPr>
        <p:txBody>
          <a:bodyPr wrap="square" lIns="0" rIns="0" tIns="0" bIns="0">
            <a:spAutoFit/>
          </a:bodyPr>
          <a:lstStyle/>
          <a:p>
            <a:pPr>
              <a:spcBef>
                <a:spcPts val="0"/>
              </a:spcBef>
              <a:spcAft>
                <a:spcPts val="800"/>
              </a:spcAft>
              <a:defRPr sz="1900" b="0">
                <a:solidFill>
                  <a:srgbClr val="147D80"/>
                </a:solidFill>
                <a:latin typeface="DejaVu Sans"/>
              </a:defRPr>
            </a:pPr>
            <a:r>
              <a:t>Debounce: 50 ms de estabilidade.</a:t>
            </a:r>
          </a:p>
          <a:p>
            <a:pPr>
              <a:spcBef>
                <a:spcPts val="0"/>
              </a:spcBef>
              <a:spcAft>
                <a:spcPts val="800"/>
              </a:spcAft>
              <a:defRPr sz="1900" b="0">
                <a:solidFill>
                  <a:srgbClr val="147D80"/>
                </a:solidFill>
                <a:latin typeface="DejaVu Sans"/>
              </a:defRPr>
            </a:pPr>
            <a:r>
              <a:t>SEL longo: um evento após 1 s.</a:t>
            </a:r>
          </a:p>
          <a:p>
            <a:pPr>
              <a:spcBef>
                <a:spcPts val="0"/>
              </a:spcBef>
              <a:spcAft>
                <a:spcPts val="800"/>
              </a:spcAft>
              <a:defRPr sz="1900" b="0">
                <a:solidFill>
                  <a:srgbClr val="147D80"/>
                </a:solidFill>
                <a:latin typeface="DejaVu Sans"/>
              </a:defRPr>
            </a:pPr>
            <a:r>
              <a:t>Sem esperar o botão ser solto em um laço.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147D80"/>
                </a:solidFill>
                <a:latin typeface="DejaVu Sans"/>
              </a:defRPr>
            </a:pPr>
            <a:r>
              <a:t>09 · MÁQUINA DE ESTADOS</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172A3A"/>
                </a:solidFill>
                <a:latin typeface="DejaVu Sans"/>
              </a:defRPr>
            </a:pPr>
            <a:r>
              <a:t>A soneca usa duração relativa, não hora do dia</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586977"/>
                </a:solidFill>
                <a:latin typeface="DejaVu Sans"/>
              </a:defRPr>
            </a:pPr>
            <a:r>
              <a:t>O mesmo evento de soneca pode vir de D5 ou do clique em SEL.</a:t>
            </a:r>
          </a:p>
        </p:txBody>
      </p:sp>
      <p:sp>
        <p:nvSpPr>
          <p:cNvPr id="6" name="Rectangle 5"/>
          <p:cNvSpPr/>
          <p:nvPr/>
        </p:nvSpPr>
        <p:spPr>
          <a:xfrm>
            <a:off x="548640" y="6409944"/>
            <a:ext cx="11064240" cy="10972"/>
          </a:xfrm>
          <a:prstGeom prst="rect">
            <a:avLst/>
          </a:prstGeom>
          <a:solidFill>
            <a:srgbClr val="CCD7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586977"/>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586977"/>
                </a:solidFill>
                <a:latin typeface="DejaVu Sans"/>
              </a:defRPr>
            </a:pPr>
            <a:r>
              <a:t>10  /  16</a:t>
            </a:r>
          </a:p>
        </p:txBody>
      </p:sp>
      <p:sp>
        <p:nvSpPr>
          <p:cNvPr id="9" name="TextBox 8"/>
          <p:cNvSpPr txBox="1"/>
          <p:nvPr/>
        </p:nvSpPr>
        <p:spPr>
          <a:xfrm>
            <a:off x="548640" y="6153912"/>
            <a:ext cx="10972800" cy="182880"/>
          </a:xfrm>
          <a:prstGeom prst="rect">
            <a:avLst/>
          </a:prstGeom>
          <a:noFill/>
        </p:spPr>
        <p:txBody>
          <a:bodyPr wrap="square" lIns="0" rIns="0" tIns="0" bIns="0">
            <a:spAutoFit/>
          </a:bodyPr>
          <a:lstStyle/>
          <a:p>
            <a:pPr>
              <a:spcBef>
                <a:spcPts val="0"/>
              </a:spcBef>
              <a:spcAft>
                <a:spcPts val="800"/>
              </a:spcAft>
              <a:defRPr sz="950" b="0">
                <a:solidFill>
                  <a:srgbClr val="586977"/>
                </a:solidFill>
                <a:latin typeface="DejaVu Sans"/>
              </a:defRPr>
            </a:pPr>
            <a:r>
              <a:t>Fonte: comandar(), consumirPrazo(), avaliar() · exemplo de meia-noite exercitado nos testes</a:t>
            </a:r>
          </a:p>
        </p:txBody>
      </p:sp>
      <p:sp>
        <p:nvSpPr>
          <p:cNvPr id="10" name="Rounded Rectangle 9"/>
          <p:cNvSpPr/>
          <p:nvPr/>
        </p:nvSpPr>
        <p:spPr>
          <a:xfrm>
            <a:off x="603504" y="2221992"/>
            <a:ext cx="3246120" cy="1179576"/>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404872"/>
            <a:ext cx="2953512" cy="393192"/>
          </a:xfrm>
          <a:prstGeom prst="rect">
            <a:avLst/>
          </a:prstGeom>
          <a:noFill/>
        </p:spPr>
        <p:txBody>
          <a:bodyPr wrap="square" lIns="0" rIns="0" tIns="0" bIns="0">
            <a:spAutoFit/>
          </a:bodyPr>
          <a:lstStyle/>
          <a:p>
            <a:pPr algn="ctr">
              <a:spcBef>
                <a:spcPts val="0"/>
              </a:spcBef>
              <a:spcAft>
                <a:spcPts val="800"/>
              </a:spcAft>
              <a:defRPr sz="2500" b="1">
                <a:solidFill>
                  <a:srgbClr val="172A3A"/>
                </a:solidFill>
                <a:latin typeface="DejaVu Sans"/>
              </a:defRPr>
            </a:pPr>
            <a:r>
              <a:t>Silêncio</a:t>
            </a:r>
          </a:p>
        </p:txBody>
      </p:sp>
      <p:sp>
        <p:nvSpPr>
          <p:cNvPr id="12" name="TextBox 11"/>
          <p:cNvSpPr txBox="1"/>
          <p:nvPr/>
        </p:nvSpPr>
        <p:spPr>
          <a:xfrm>
            <a:off x="749808" y="2944368"/>
            <a:ext cx="2953512" cy="320040"/>
          </a:xfrm>
          <a:prstGeom prst="rect">
            <a:avLst/>
          </a:prstGeom>
          <a:noFill/>
        </p:spPr>
        <p:txBody>
          <a:bodyPr wrap="square" lIns="0" rIns="0" tIns="0" bIns="0">
            <a:spAutoFit/>
          </a:bodyPr>
          <a:lstStyle/>
          <a:p>
            <a:pPr algn="ctr">
              <a:spcBef>
                <a:spcPts val="0"/>
              </a:spcBef>
              <a:spcAft>
                <a:spcPts val="800"/>
              </a:spcAft>
              <a:defRPr sz="1200" b="0">
                <a:solidFill>
                  <a:srgbClr val="586977"/>
                </a:solidFill>
                <a:latin typeface="DejaVu Sans"/>
              </a:defRPr>
            </a:pPr>
            <a:r>
              <a:t>Aguarda o horário habilitado</a:t>
            </a:r>
          </a:p>
        </p:txBody>
      </p:sp>
      <p:sp>
        <p:nvSpPr>
          <p:cNvPr id="13" name="Rounded Rectangle 12"/>
          <p:cNvSpPr/>
          <p:nvPr/>
        </p:nvSpPr>
        <p:spPr>
          <a:xfrm>
            <a:off x="4187952" y="2221992"/>
            <a:ext cx="3246120" cy="1179576"/>
          </a:xfrm>
          <a:prstGeom prst="roundRect">
            <a:avLst>
              <a:gd name="adj" fmla="val 10000"/>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34256" y="2404872"/>
            <a:ext cx="2953512" cy="393192"/>
          </a:xfrm>
          <a:prstGeom prst="rect">
            <a:avLst/>
          </a:prstGeom>
          <a:noFill/>
        </p:spPr>
        <p:txBody>
          <a:bodyPr wrap="square" lIns="0" rIns="0" tIns="0" bIns="0">
            <a:spAutoFit/>
          </a:bodyPr>
          <a:lstStyle/>
          <a:p>
            <a:pPr algn="ctr">
              <a:spcBef>
                <a:spcPts val="0"/>
              </a:spcBef>
              <a:spcAft>
                <a:spcPts val="800"/>
              </a:spcAft>
              <a:defRPr sz="2500" b="1">
                <a:solidFill>
                  <a:srgbClr val="FFFFFF"/>
                </a:solidFill>
                <a:latin typeface="DejaVu Sans"/>
              </a:defRPr>
            </a:pPr>
            <a:r>
              <a:t>Tocando</a:t>
            </a:r>
          </a:p>
        </p:txBody>
      </p:sp>
      <p:sp>
        <p:nvSpPr>
          <p:cNvPr id="15" name="TextBox 14"/>
          <p:cNvSpPr txBox="1"/>
          <p:nvPr/>
        </p:nvSpPr>
        <p:spPr>
          <a:xfrm>
            <a:off x="4334256" y="2944368"/>
            <a:ext cx="2953512" cy="320040"/>
          </a:xfrm>
          <a:prstGeom prst="rect">
            <a:avLst/>
          </a:prstGeom>
          <a:noFill/>
        </p:spPr>
        <p:txBody>
          <a:bodyPr wrap="square" lIns="0" rIns="0" tIns="0" bIns="0">
            <a:spAutoFit/>
          </a:bodyPr>
          <a:lstStyle/>
          <a:p>
            <a:pPr algn="ctr">
              <a:spcBef>
                <a:spcPts val="0"/>
              </a:spcBef>
              <a:spcAft>
                <a:spcPts val="800"/>
              </a:spcAft>
              <a:defRPr sz="1200" b="0">
                <a:solidFill>
                  <a:srgbClr val="FFFFFF"/>
                </a:solidFill>
                <a:latin typeface="DejaVu Sans"/>
              </a:defRPr>
            </a:pPr>
            <a:r>
              <a:t>Toque de até 60 segundos</a:t>
            </a:r>
          </a:p>
        </p:txBody>
      </p:sp>
      <p:sp>
        <p:nvSpPr>
          <p:cNvPr id="16" name="Rounded Rectangle 15"/>
          <p:cNvSpPr/>
          <p:nvPr/>
        </p:nvSpPr>
        <p:spPr>
          <a:xfrm>
            <a:off x="7772400" y="2221992"/>
            <a:ext cx="3246120" cy="1179576"/>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18704" y="2404872"/>
            <a:ext cx="2953512" cy="393192"/>
          </a:xfrm>
          <a:prstGeom prst="rect">
            <a:avLst/>
          </a:prstGeom>
          <a:noFill/>
        </p:spPr>
        <p:txBody>
          <a:bodyPr wrap="square" lIns="0" rIns="0" tIns="0" bIns="0">
            <a:spAutoFit/>
          </a:bodyPr>
          <a:lstStyle/>
          <a:p>
            <a:pPr algn="ctr">
              <a:spcBef>
                <a:spcPts val="0"/>
              </a:spcBef>
              <a:spcAft>
                <a:spcPts val="800"/>
              </a:spcAft>
              <a:defRPr sz="2500" b="1">
                <a:solidFill>
                  <a:srgbClr val="172A3A"/>
                </a:solidFill>
                <a:latin typeface="DejaVu Sans"/>
              </a:defRPr>
            </a:pPr>
            <a:r>
              <a:t>Soneca</a:t>
            </a:r>
          </a:p>
        </p:txBody>
      </p:sp>
      <p:sp>
        <p:nvSpPr>
          <p:cNvPr id="18" name="TextBox 17"/>
          <p:cNvSpPr txBox="1"/>
          <p:nvPr/>
        </p:nvSpPr>
        <p:spPr>
          <a:xfrm>
            <a:off x="7918704" y="2944368"/>
            <a:ext cx="2953512" cy="320040"/>
          </a:xfrm>
          <a:prstGeom prst="rect">
            <a:avLst/>
          </a:prstGeom>
          <a:noFill/>
        </p:spPr>
        <p:txBody>
          <a:bodyPr wrap="square" lIns="0" rIns="0" tIns="0" bIns="0">
            <a:spAutoFit/>
          </a:bodyPr>
          <a:lstStyle/>
          <a:p>
            <a:pPr algn="ctr">
              <a:spcBef>
                <a:spcPts val="0"/>
              </a:spcBef>
              <a:spcAft>
                <a:spcPts val="800"/>
              </a:spcAft>
              <a:defRPr sz="1200" b="0">
                <a:solidFill>
                  <a:srgbClr val="586977"/>
                </a:solidFill>
                <a:latin typeface="DejaVu Sans"/>
              </a:defRPr>
            </a:pPr>
            <a:r>
              <a:t>Espera de 1 a 10 minutos</a:t>
            </a:r>
          </a:p>
        </p:txBody>
      </p:sp>
      <p:sp>
        <p:nvSpPr>
          <p:cNvPr id="19" name="Right Arrow 18"/>
          <p:cNvSpPr/>
          <p:nvPr/>
        </p:nvSpPr>
        <p:spPr>
          <a:xfrm>
            <a:off x="3886200" y="2706624"/>
            <a:ext cx="265176" cy="173736"/>
          </a:xfrm>
          <a:prstGeom prst="rightArrow">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Arrow 19"/>
          <p:cNvSpPr/>
          <p:nvPr/>
        </p:nvSpPr>
        <p:spPr>
          <a:xfrm>
            <a:off x="7470648" y="2706624"/>
            <a:ext cx="265176" cy="173736"/>
          </a:xfrm>
          <a:prstGeom prst="rightArrow">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38144" y="1837943"/>
            <a:ext cx="1271016" cy="310896"/>
          </a:xfrm>
          <a:prstGeom prst="rect">
            <a:avLst/>
          </a:prstGeom>
          <a:noFill/>
        </p:spPr>
        <p:txBody>
          <a:bodyPr wrap="square" lIns="0" rIns="0" tIns="0" bIns="0">
            <a:spAutoFit/>
          </a:bodyPr>
          <a:lstStyle/>
          <a:p>
            <a:pPr algn="ctr">
              <a:spcBef>
                <a:spcPts val="0"/>
              </a:spcBef>
              <a:spcAft>
                <a:spcPts val="800"/>
              </a:spcAft>
              <a:defRPr sz="1100" b="0">
                <a:solidFill>
                  <a:srgbClr val="586977"/>
                </a:solidFill>
                <a:latin typeface="DejaVu Sans"/>
              </a:defRPr>
            </a:pPr>
            <a:r>
              <a:t>hora : min : 00</a:t>
            </a:r>
          </a:p>
        </p:txBody>
      </p:sp>
      <p:sp>
        <p:nvSpPr>
          <p:cNvPr id="22" name="TextBox 21"/>
          <p:cNvSpPr txBox="1"/>
          <p:nvPr/>
        </p:nvSpPr>
        <p:spPr>
          <a:xfrm>
            <a:off x="7059168" y="1837943"/>
            <a:ext cx="1005840" cy="310896"/>
          </a:xfrm>
          <a:prstGeom prst="rect">
            <a:avLst/>
          </a:prstGeom>
          <a:noFill/>
        </p:spPr>
        <p:txBody>
          <a:bodyPr wrap="square" lIns="0" rIns="0" tIns="0" bIns="0">
            <a:spAutoFit/>
          </a:bodyPr>
          <a:lstStyle/>
          <a:p>
            <a:pPr algn="ctr">
              <a:spcBef>
                <a:spcPts val="0"/>
              </a:spcBef>
              <a:spcAft>
                <a:spcPts val="800"/>
              </a:spcAft>
              <a:defRPr sz="1100" b="0">
                <a:solidFill>
                  <a:srgbClr val="586977"/>
                </a:solidFill>
                <a:latin typeface="DejaVu Sans"/>
              </a:defRPr>
            </a:pPr>
            <a:r>
              <a:t>D5 / SEL</a:t>
            </a:r>
          </a:p>
        </p:txBody>
      </p:sp>
      <p:sp>
        <p:nvSpPr>
          <p:cNvPr id="23" name="Rounded Rectangle 22"/>
          <p:cNvSpPr/>
          <p:nvPr/>
        </p:nvSpPr>
        <p:spPr>
          <a:xfrm>
            <a:off x="4187952" y="3584448"/>
            <a:ext cx="6830568" cy="603504"/>
          </a:xfrm>
          <a:prstGeom prst="roundRect">
            <a:avLst>
              <a:gd name="adj" fmla="val 10000"/>
            </a:avLst>
          </a:prstGeom>
          <a:solidFill>
            <a:srgbClr val="E8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98264" y="3730752"/>
            <a:ext cx="6428232" cy="292608"/>
          </a:xfrm>
          <a:prstGeom prst="rect">
            <a:avLst/>
          </a:prstGeom>
          <a:noFill/>
        </p:spPr>
        <p:txBody>
          <a:bodyPr wrap="square" lIns="0" rIns="0" tIns="0" bIns="0">
            <a:spAutoFit/>
          </a:bodyPr>
          <a:lstStyle/>
          <a:p>
            <a:pPr>
              <a:spcBef>
                <a:spcPts val="0"/>
              </a:spcBef>
              <a:spcAft>
                <a:spcPts val="800"/>
              </a:spcAft>
              <a:defRPr sz="1700" b="0">
                <a:solidFill>
                  <a:srgbClr val="172A3A"/>
                </a:solidFill>
                <a:latin typeface="DejaVu Sans"/>
              </a:defRPr>
            </a:pPr>
            <a:r>
              <a:t>Fim da soneca → novo toque; SEL longo → encerra.</a:t>
            </a:r>
          </a:p>
        </p:txBody>
      </p:sp>
      <p:sp>
        <p:nvSpPr>
          <p:cNvPr id="25" name="Rounded Rectangle 24"/>
          <p:cNvSpPr/>
          <p:nvPr/>
        </p:nvSpPr>
        <p:spPr>
          <a:xfrm>
            <a:off x="603504" y="4535424"/>
            <a:ext cx="10415016" cy="1197864"/>
          </a:xfrm>
          <a:prstGeom prst="roundRect">
            <a:avLst>
              <a:gd name="adj" fmla="val 10000"/>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 y="4709160"/>
            <a:ext cx="9976104" cy="429768"/>
          </a:xfrm>
          <a:prstGeom prst="rect">
            <a:avLst/>
          </a:prstGeom>
          <a:noFill/>
        </p:spPr>
        <p:txBody>
          <a:bodyPr wrap="square" lIns="0" rIns="0" tIns="0" bIns="0">
            <a:spAutoFit/>
          </a:bodyPr>
          <a:lstStyle/>
          <a:p>
            <a:pPr algn="ctr">
              <a:spcBef>
                <a:spcPts val="0"/>
              </a:spcBef>
              <a:spcAft>
                <a:spcPts val="800"/>
              </a:spcAft>
              <a:defRPr sz="2700" b="1">
                <a:solidFill>
                  <a:srgbClr val="147D80"/>
                </a:solidFill>
                <a:latin typeface="DejaVu Sans"/>
              </a:defRPr>
            </a:pPr>
            <a:r>
              <a:t>23:59:50  +  60 segundos  →  00:00:50</a:t>
            </a:r>
          </a:p>
        </p:txBody>
      </p:sp>
      <p:sp>
        <p:nvSpPr>
          <p:cNvPr id="27" name="TextBox 26"/>
          <p:cNvSpPr txBox="1"/>
          <p:nvPr/>
        </p:nvSpPr>
        <p:spPr>
          <a:xfrm>
            <a:off x="832104" y="5330952"/>
            <a:ext cx="9976104" cy="256032"/>
          </a:xfrm>
          <a:prstGeom prst="rect">
            <a:avLst/>
          </a:prstGeom>
          <a:noFill/>
        </p:spPr>
        <p:txBody>
          <a:bodyPr wrap="square" lIns="0" rIns="0" tIns="0" bIns="0">
            <a:spAutoFit/>
          </a:bodyPr>
          <a:lstStyle/>
          <a:p>
            <a:pPr algn="ctr">
              <a:spcBef>
                <a:spcPts val="0"/>
              </a:spcBef>
              <a:spcAft>
                <a:spcPts val="800"/>
              </a:spcAft>
              <a:defRPr sz="1600" b="0">
                <a:solidFill>
                  <a:srgbClr val="147D80"/>
                </a:solidFill>
                <a:latin typeface="DejaVu Sans"/>
              </a:defRPr>
            </a:pPr>
            <a:r>
              <a:t>A mudança de dia não invalida o prazo restante.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F6C644"/>
                </a:solidFill>
                <a:latin typeface="DejaVu Sans"/>
              </a:defRPr>
            </a:pPr>
            <a:r>
              <a:t>10 · PRECISÃO</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FFFFFF"/>
                </a:solidFill>
                <a:latin typeface="DejaVu Sans"/>
              </a:defRPr>
            </a:pPr>
            <a:r>
              <a:t>Precisão física não é a mesma coisa que prioridade</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CBD8E3"/>
                </a:solidFill>
                <a:latin typeface="DejaVu Sans"/>
              </a:defRPr>
            </a:pPr>
            <a:r>
              <a:t>Três fenômenos precisam ser separados na análise do horário.</a:t>
            </a:r>
          </a:p>
        </p:txBody>
      </p:sp>
      <p:sp>
        <p:nvSpPr>
          <p:cNvPr id="6" name="Rectangle 5"/>
          <p:cNvSpPr/>
          <p:nvPr/>
        </p:nvSpPr>
        <p:spPr>
          <a:xfrm>
            <a:off x="548640" y="6409944"/>
            <a:ext cx="11064240" cy="10972"/>
          </a:xfrm>
          <a:prstGeom prst="rect">
            <a:avLst/>
          </a:prstGeom>
          <a:solidFill>
            <a:srgbClr val="4B62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CBD8E3"/>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CBD8E3"/>
                </a:solidFill>
                <a:latin typeface="DejaVu Sans"/>
              </a:defRPr>
            </a:pPr>
            <a:r>
              <a:t>11  /  16</a:t>
            </a:r>
          </a:p>
        </p:txBody>
      </p:sp>
      <p:sp>
        <p:nvSpPr>
          <p:cNvPr id="9" name="Rounded Rectangle 8"/>
          <p:cNvSpPr/>
          <p:nvPr/>
        </p:nvSpPr>
        <p:spPr>
          <a:xfrm>
            <a:off x="603504" y="2066543"/>
            <a:ext cx="3502152" cy="2514600"/>
          </a:xfrm>
          <a:prstGeom prst="roundRect">
            <a:avLst>
              <a:gd name="adj" fmla="val 10000"/>
            </a:avLst>
          </a:prstGeom>
          <a:solidFill>
            <a:srgbClr val="233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 y="2066543"/>
            <a:ext cx="59436" cy="25146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231136"/>
            <a:ext cx="3099816" cy="502920"/>
          </a:xfrm>
          <a:prstGeom prst="rect">
            <a:avLst/>
          </a:prstGeom>
          <a:noFill/>
        </p:spPr>
        <p:txBody>
          <a:bodyPr wrap="square" lIns="0" rIns="0" tIns="0" bIns="0">
            <a:spAutoFit/>
          </a:bodyPr>
          <a:lstStyle/>
          <a:p>
            <a:pPr>
              <a:spcBef>
                <a:spcPts val="0"/>
              </a:spcBef>
              <a:spcAft>
                <a:spcPts val="800"/>
              </a:spcAft>
              <a:defRPr sz="2000" b="1">
                <a:solidFill>
                  <a:srgbClr val="FFFFFF"/>
                </a:solidFill>
                <a:latin typeface="DejaVu Sans"/>
              </a:defRPr>
            </a:pPr>
            <a:r>
              <a:t>Acerto do horário</a:t>
            </a:r>
          </a:p>
        </p:txBody>
      </p:sp>
      <p:sp>
        <p:nvSpPr>
          <p:cNvPr id="12" name="TextBox 11"/>
          <p:cNvSpPr txBox="1"/>
          <p:nvPr/>
        </p:nvSpPr>
        <p:spPr>
          <a:xfrm>
            <a:off x="804672" y="2898648"/>
            <a:ext cx="3099816" cy="1545336"/>
          </a:xfrm>
          <a:prstGeom prst="rect">
            <a:avLst/>
          </a:prstGeom>
          <a:noFill/>
        </p:spPr>
        <p:txBody>
          <a:bodyPr wrap="square" lIns="0" rIns="0" tIns="0" bIns="0">
            <a:spAutoFit/>
          </a:bodyPr>
          <a:lstStyle/>
          <a:p>
            <a:pPr>
              <a:spcBef>
                <a:spcPts val="0"/>
              </a:spcBef>
              <a:spcAft>
                <a:spcPts val="800"/>
              </a:spcAft>
              <a:defRPr sz="1800" b="0">
                <a:solidFill>
                  <a:srgbClr val="DCE6ED"/>
                </a:solidFill>
                <a:latin typeface="DejaVu Sans"/>
              </a:defRPr>
            </a:pPr>
            <a:r>
              <a:t>Diferença de horário</a:t>
            </a:r>
          </a:p>
          <a:p>
            <a:pPr>
              <a:spcBef>
                <a:spcPts val="0"/>
              </a:spcBef>
              <a:spcAft>
                <a:spcPts val="800"/>
              </a:spcAft>
              <a:defRPr sz="1800" b="0">
                <a:solidFill>
                  <a:srgbClr val="DCE6ED"/>
                </a:solidFill>
                <a:latin typeface="DejaVu Sans"/>
              </a:defRPr>
            </a:pPr>
            <a:r>
              <a:t>no instante em que</a:t>
            </a:r>
          </a:p>
          <a:p>
            <a:pPr>
              <a:spcBef>
                <a:spcPts val="0"/>
              </a:spcBef>
              <a:spcAft>
                <a:spcPts val="800"/>
              </a:spcAft>
              <a:defRPr sz="1800" b="0">
                <a:solidFill>
                  <a:srgbClr val="DCE6ED"/>
                </a:solidFill>
                <a:latin typeface="DejaVu Sans"/>
              </a:defRPr>
            </a:pPr>
            <a:r>
              <a:t>o relógio é acertado.</a:t>
            </a:r>
          </a:p>
        </p:txBody>
      </p:sp>
      <p:sp>
        <p:nvSpPr>
          <p:cNvPr id="13" name="Rounded Rectangle 12"/>
          <p:cNvSpPr/>
          <p:nvPr/>
        </p:nvSpPr>
        <p:spPr>
          <a:xfrm>
            <a:off x="4352544" y="2066543"/>
            <a:ext cx="3502152" cy="2514600"/>
          </a:xfrm>
          <a:prstGeom prst="roundRect">
            <a:avLst>
              <a:gd name="adj" fmla="val 10000"/>
            </a:avLst>
          </a:prstGeom>
          <a:solidFill>
            <a:srgbClr val="233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52544" y="2066543"/>
            <a:ext cx="59436" cy="25146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2231136"/>
            <a:ext cx="3099816" cy="502920"/>
          </a:xfrm>
          <a:prstGeom prst="rect">
            <a:avLst/>
          </a:prstGeom>
          <a:noFill/>
        </p:spPr>
        <p:txBody>
          <a:bodyPr wrap="square" lIns="0" rIns="0" tIns="0" bIns="0">
            <a:spAutoFit/>
          </a:bodyPr>
          <a:lstStyle/>
          <a:p>
            <a:pPr>
              <a:spcBef>
                <a:spcPts val="0"/>
              </a:spcBef>
              <a:spcAft>
                <a:spcPts val="800"/>
              </a:spcAft>
              <a:defRPr sz="2000" b="1">
                <a:solidFill>
                  <a:srgbClr val="FFFFFF"/>
                </a:solidFill>
                <a:latin typeface="DejaVu Sans"/>
              </a:defRPr>
            </a:pPr>
            <a:r>
              <a:t>Deriva</a:t>
            </a:r>
          </a:p>
        </p:txBody>
      </p:sp>
      <p:sp>
        <p:nvSpPr>
          <p:cNvPr id="16" name="TextBox 15"/>
          <p:cNvSpPr txBox="1"/>
          <p:nvPr/>
        </p:nvSpPr>
        <p:spPr>
          <a:xfrm>
            <a:off x="4553712" y="2898648"/>
            <a:ext cx="3099816" cy="1545336"/>
          </a:xfrm>
          <a:prstGeom prst="rect">
            <a:avLst/>
          </a:prstGeom>
          <a:noFill/>
        </p:spPr>
        <p:txBody>
          <a:bodyPr wrap="square" lIns="0" rIns="0" tIns="0" bIns="0">
            <a:spAutoFit/>
          </a:bodyPr>
          <a:lstStyle/>
          <a:p>
            <a:pPr>
              <a:spcBef>
                <a:spcPts val="0"/>
              </a:spcBef>
              <a:spcAft>
                <a:spcPts val="800"/>
              </a:spcAft>
              <a:defRPr sz="1800" b="0">
                <a:solidFill>
                  <a:srgbClr val="DCE6ED"/>
                </a:solidFill>
                <a:latin typeface="DejaVu Sans"/>
              </a:defRPr>
            </a:pPr>
            <a:r>
              <a:t>Erro que cresce</a:t>
            </a:r>
          </a:p>
          <a:p>
            <a:pPr>
              <a:spcBef>
                <a:spcPts val="0"/>
              </a:spcBef>
              <a:spcAft>
                <a:spcPts val="800"/>
              </a:spcAft>
              <a:defRPr sz="1800" b="0">
                <a:solidFill>
                  <a:srgbClr val="DCE6ED"/>
                </a:solidFill>
                <a:latin typeface="DejaVu Sans"/>
              </a:defRPr>
            </a:pPr>
            <a:r>
              <a:t>com a frequência real</a:t>
            </a:r>
          </a:p>
          <a:p>
            <a:pPr>
              <a:spcBef>
                <a:spcPts val="0"/>
              </a:spcBef>
              <a:spcAft>
                <a:spcPts val="800"/>
              </a:spcAft>
              <a:defRPr sz="1800" b="0">
                <a:solidFill>
                  <a:srgbClr val="DCE6ED"/>
                </a:solidFill>
                <a:latin typeface="DejaVu Sans"/>
              </a:defRPr>
            </a:pPr>
            <a:r>
              <a:t>do oscilador.</a:t>
            </a:r>
          </a:p>
        </p:txBody>
      </p:sp>
      <p:sp>
        <p:nvSpPr>
          <p:cNvPr id="17" name="Rounded Rectangle 16"/>
          <p:cNvSpPr/>
          <p:nvPr/>
        </p:nvSpPr>
        <p:spPr>
          <a:xfrm>
            <a:off x="8101583" y="2066543"/>
            <a:ext cx="3483864" cy="2514600"/>
          </a:xfrm>
          <a:prstGeom prst="roundRect">
            <a:avLst>
              <a:gd name="adj" fmla="val 10000"/>
            </a:avLst>
          </a:prstGeom>
          <a:solidFill>
            <a:srgbClr val="233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01583" y="2066543"/>
            <a:ext cx="59436" cy="25146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2" y="2231136"/>
            <a:ext cx="3081528" cy="502920"/>
          </a:xfrm>
          <a:prstGeom prst="rect">
            <a:avLst/>
          </a:prstGeom>
          <a:noFill/>
        </p:spPr>
        <p:txBody>
          <a:bodyPr wrap="square" lIns="0" rIns="0" tIns="0" bIns="0">
            <a:spAutoFit/>
          </a:bodyPr>
          <a:lstStyle/>
          <a:p>
            <a:pPr>
              <a:spcBef>
                <a:spcPts val="0"/>
              </a:spcBef>
              <a:spcAft>
                <a:spcPts val="800"/>
              </a:spcAft>
              <a:defRPr sz="2000" b="1">
                <a:solidFill>
                  <a:srgbClr val="FFFFFF"/>
                </a:solidFill>
                <a:latin typeface="DejaVu Sans"/>
              </a:defRPr>
            </a:pPr>
            <a:r>
              <a:t>Latência</a:t>
            </a:r>
          </a:p>
        </p:txBody>
      </p:sp>
      <p:sp>
        <p:nvSpPr>
          <p:cNvPr id="20" name="TextBox 19"/>
          <p:cNvSpPr txBox="1"/>
          <p:nvPr/>
        </p:nvSpPr>
        <p:spPr>
          <a:xfrm>
            <a:off x="8302752" y="2898648"/>
            <a:ext cx="3081528" cy="1545336"/>
          </a:xfrm>
          <a:prstGeom prst="rect">
            <a:avLst/>
          </a:prstGeom>
          <a:noFill/>
        </p:spPr>
        <p:txBody>
          <a:bodyPr wrap="square" lIns="0" rIns="0" tIns="0" bIns="0">
            <a:spAutoFit/>
          </a:bodyPr>
          <a:lstStyle/>
          <a:p>
            <a:pPr>
              <a:spcBef>
                <a:spcPts val="0"/>
              </a:spcBef>
              <a:spcAft>
                <a:spcPts val="800"/>
              </a:spcAft>
              <a:defRPr sz="1800" b="0">
                <a:solidFill>
                  <a:srgbClr val="DCE6ED"/>
                </a:solidFill>
                <a:latin typeface="DejaVu Sans"/>
              </a:defRPr>
            </a:pPr>
            <a:r>
              <a:t>Tempo até a tarefa</a:t>
            </a:r>
          </a:p>
          <a:p>
            <a:pPr>
              <a:spcBef>
                <a:spcPts val="0"/>
              </a:spcBef>
              <a:spcAft>
                <a:spcPts val="800"/>
              </a:spcAft>
              <a:defRPr sz="1800" b="0">
                <a:solidFill>
                  <a:srgbClr val="DCE6ED"/>
                </a:solidFill>
                <a:latin typeface="DejaVu Sans"/>
              </a:defRPr>
            </a:pPr>
            <a:r>
              <a:t>processar um evento</a:t>
            </a:r>
          </a:p>
          <a:p>
            <a:pPr>
              <a:spcBef>
                <a:spcPts val="0"/>
              </a:spcBef>
              <a:spcAft>
                <a:spcPts val="800"/>
              </a:spcAft>
              <a:defRPr sz="1800" b="0">
                <a:solidFill>
                  <a:srgbClr val="DCE6ED"/>
                </a:solidFill>
                <a:latin typeface="DejaVu Sans"/>
              </a:defRPr>
            </a:pPr>
            <a:r>
              <a:t>ou atualizar a saída.</a:t>
            </a:r>
          </a:p>
        </p:txBody>
      </p:sp>
      <p:sp>
        <p:nvSpPr>
          <p:cNvPr id="21" name="TextBox 20"/>
          <p:cNvSpPr txBox="1"/>
          <p:nvPr/>
        </p:nvSpPr>
        <p:spPr>
          <a:xfrm>
            <a:off x="777240" y="5010912"/>
            <a:ext cx="10643616" cy="896112"/>
          </a:xfrm>
          <a:prstGeom prst="rect">
            <a:avLst/>
          </a:prstGeom>
          <a:noFill/>
        </p:spPr>
        <p:txBody>
          <a:bodyPr wrap="square" lIns="0" rIns="0" tIns="0" bIns="0">
            <a:spAutoFit/>
          </a:bodyPr>
          <a:lstStyle/>
          <a:p>
            <a:pPr algn="ctr">
              <a:spcBef>
                <a:spcPts val="0"/>
              </a:spcBef>
              <a:spcAft>
                <a:spcPts val="800"/>
              </a:spcAft>
              <a:defRPr sz="2400" b="1">
                <a:solidFill>
                  <a:srgbClr val="FFFFFF"/>
                </a:solidFill>
                <a:latin typeface="DejaVu Sans"/>
              </a:defRPr>
            </a:pPr>
            <a:r>
              <a:t>Timer1 separa o calendário do watchdog.</a:t>
            </a:r>
          </a:p>
          <a:p>
            <a:pPr algn="ctr">
              <a:spcBef>
                <a:spcPts val="0"/>
              </a:spcBef>
              <a:spcAft>
                <a:spcPts val="800"/>
              </a:spcAft>
              <a:defRPr sz="2400" b="1">
                <a:solidFill>
                  <a:srgbClr val="FFFFFF"/>
                </a:solidFill>
                <a:latin typeface="DejaVu Sans"/>
              </a:defRPr>
            </a:pPr>
            <a:r>
              <a:t>A exatidão continua dependendo da referência física.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147D80"/>
                </a:solidFill>
                <a:latin typeface="DejaVu Sans"/>
              </a:defRPr>
            </a:pPr>
            <a:r>
              <a:t>11 · RESULTADOS</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172A3A"/>
                </a:solidFill>
                <a:latin typeface="DejaVu Sans"/>
              </a:defRPr>
            </a:pPr>
            <a:r>
              <a:t>O comportamento foi verificado em etapas</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586977"/>
                </a:solidFill>
                <a:latin typeface="DejaVu Sans"/>
              </a:defRPr>
            </a:pPr>
            <a:r>
              <a:t>Montagem funcional, núcleo testado e firmware compilado para o Mega.</a:t>
            </a:r>
          </a:p>
        </p:txBody>
      </p:sp>
      <p:sp>
        <p:nvSpPr>
          <p:cNvPr id="6" name="Rectangle 5"/>
          <p:cNvSpPr/>
          <p:nvPr/>
        </p:nvSpPr>
        <p:spPr>
          <a:xfrm>
            <a:off x="548640" y="6409944"/>
            <a:ext cx="11064240" cy="10972"/>
          </a:xfrm>
          <a:prstGeom prst="rect">
            <a:avLst/>
          </a:prstGeom>
          <a:solidFill>
            <a:srgbClr val="CCD7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586977"/>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586977"/>
                </a:solidFill>
                <a:latin typeface="DejaVu Sans"/>
              </a:defRPr>
            </a:pPr>
            <a:r>
              <a:t>12  /  16</a:t>
            </a:r>
          </a:p>
        </p:txBody>
      </p:sp>
      <p:sp>
        <p:nvSpPr>
          <p:cNvPr id="9" name="TextBox 8"/>
          <p:cNvSpPr txBox="1"/>
          <p:nvPr/>
        </p:nvSpPr>
        <p:spPr>
          <a:xfrm>
            <a:off x="548640" y="6153912"/>
            <a:ext cx="10972800" cy="182880"/>
          </a:xfrm>
          <a:prstGeom prst="rect">
            <a:avLst/>
          </a:prstGeom>
          <a:noFill/>
        </p:spPr>
        <p:txBody>
          <a:bodyPr wrap="square" lIns="0" rIns="0" tIns="0" bIns="0">
            <a:spAutoFit/>
          </a:bodyPr>
          <a:lstStyle/>
          <a:p>
            <a:pPr>
              <a:spcBef>
                <a:spcPts val="0"/>
              </a:spcBef>
              <a:spcAft>
                <a:spcPts val="800"/>
              </a:spcAft>
              <a:defRPr sz="950" b="0">
                <a:solidFill>
                  <a:srgbClr val="586977"/>
                </a:solidFill>
                <a:latin typeface="DejaVu Sans"/>
              </a:defRPr>
            </a:pPr>
            <a:r>
              <a:t>Fontes: testes/nucleo_teste.cpp · compilação Arduino AVR 1.8.8 · fotografias do protótipo</a:t>
            </a:r>
          </a:p>
        </p:txBody>
      </p:sp>
      <p:sp>
        <p:nvSpPr>
          <p:cNvPr id="10" name="Rounded Rectangle 9"/>
          <p:cNvSpPr/>
          <p:nvPr/>
        </p:nvSpPr>
        <p:spPr>
          <a:xfrm>
            <a:off x="603504" y="2011680"/>
            <a:ext cx="2971800" cy="2112264"/>
          </a:xfrm>
          <a:prstGeom prst="roundRect">
            <a:avLst>
              <a:gd name="adj" fmla="val 10000"/>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322576"/>
            <a:ext cx="2423160" cy="859536"/>
          </a:xfrm>
          <a:prstGeom prst="rect">
            <a:avLst/>
          </a:prstGeom>
          <a:noFill/>
        </p:spPr>
        <p:txBody>
          <a:bodyPr wrap="square" lIns="0" rIns="0" tIns="0" bIns="0">
            <a:spAutoFit/>
          </a:bodyPr>
          <a:lstStyle/>
          <a:p>
            <a:pPr algn="ctr">
              <a:spcBef>
                <a:spcPts val="0"/>
              </a:spcBef>
              <a:spcAft>
                <a:spcPts val="800"/>
              </a:spcAft>
              <a:defRPr sz="6000" b="1">
                <a:solidFill>
                  <a:srgbClr val="FFFFFF"/>
                </a:solidFill>
                <a:latin typeface="DejaVu Sans"/>
              </a:defRPr>
            </a:pPr>
            <a:r>
              <a:t>13</a:t>
            </a:r>
          </a:p>
        </p:txBody>
      </p:sp>
      <p:sp>
        <p:nvSpPr>
          <p:cNvPr id="12" name="TextBox 11"/>
          <p:cNvSpPr txBox="1"/>
          <p:nvPr/>
        </p:nvSpPr>
        <p:spPr>
          <a:xfrm>
            <a:off x="841248" y="3310128"/>
            <a:ext cx="2496312" cy="548640"/>
          </a:xfrm>
          <a:prstGeom prst="rect">
            <a:avLst/>
          </a:prstGeom>
          <a:noFill/>
        </p:spPr>
        <p:txBody>
          <a:bodyPr wrap="square" lIns="0" rIns="0" tIns="0" bIns="0">
            <a:spAutoFit/>
          </a:bodyPr>
          <a:lstStyle/>
          <a:p>
            <a:pPr algn="ctr">
              <a:spcBef>
                <a:spcPts val="0"/>
              </a:spcBef>
              <a:spcAft>
                <a:spcPts val="800"/>
              </a:spcAft>
              <a:defRPr sz="1800" b="0">
                <a:solidFill>
                  <a:srgbClr val="FFFFFF"/>
                </a:solidFill>
                <a:latin typeface="DejaVu Sans"/>
              </a:defRPr>
            </a:pPr>
            <a:r>
              <a:t>grupos de testes</a:t>
            </a:r>
          </a:p>
          <a:p>
            <a:pPr algn="ctr">
              <a:spcBef>
                <a:spcPts val="0"/>
              </a:spcBef>
              <a:spcAft>
                <a:spcPts val="800"/>
              </a:spcAft>
              <a:defRPr sz="1800" b="0">
                <a:solidFill>
                  <a:srgbClr val="FFFFFF"/>
                </a:solidFill>
                <a:latin typeface="DejaVu Sans"/>
              </a:defRPr>
            </a:pPr>
            <a:r>
              <a:t>do núcleo aprovados</a:t>
            </a:r>
          </a:p>
        </p:txBody>
      </p:sp>
      <p:sp>
        <p:nvSpPr>
          <p:cNvPr id="13" name="Rounded Rectangle 12"/>
          <p:cNvSpPr/>
          <p:nvPr/>
        </p:nvSpPr>
        <p:spPr>
          <a:xfrm>
            <a:off x="3840480" y="2011680"/>
            <a:ext cx="3685032" cy="211226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2011680"/>
            <a:ext cx="59436" cy="2112264"/>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41648" y="2176272"/>
            <a:ext cx="3282696"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Calendário e prazos</a:t>
            </a:r>
          </a:p>
        </p:txBody>
      </p:sp>
      <p:sp>
        <p:nvSpPr>
          <p:cNvPr id="16" name="TextBox 15"/>
          <p:cNvSpPr txBox="1"/>
          <p:nvPr/>
        </p:nvSpPr>
        <p:spPr>
          <a:xfrm>
            <a:off x="4041648" y="2843784"/>
            <a:ext cx="3282696" cy="1143000"/>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Meia-noite e ano bissexto.</a:t>
            </a:r>
          </a:p>
          <a:p>
            <a:pPr>
              <a:spcBef>
                <a:spcPts val="0"/>
              </a:spcBef>
              <a:spcAft>
                <a:spcPts val="800"/>
              </a:spcAft>
              <a:defRPr sz="1800" b="0">
                <a:solidFill>
                  <a:srgbClr val="586977"/>
                </a:solidFill>
                <a:latin typeface="DejaVu Sans"/>
              </a:defRPr>
            </a:pPr>
            <a:r>
              <a:t>Soneca e fim do toque.</a:t>
            </a:r>
          </a:p>
          <a:p>
            <a:pPr>
              <a:spcBef>
                <a:spcPts val="0"/>
              </a:spcBef>
              <a:spcAft>
                <a:spcPts val="800"/>
              </a:spcAft>
              <a:defRPr sz="1800" b="0">
                <a:solidFill>
                  <a:srgbClr val="586977"/>
                </a:solidFill>
                <a:latin typeface="DejaVu Sans"/>
              </a:defRPr>
            </a:pPr>
            <a:r>
              <a:t>Rollover e recuperação.</a:t>
            </a:r>
          </a:p>
        </p:txBody>
      </p:sp>
      <p:sp>
        <p:nvSpPr>
          <p:cNvPr id="17" name="Rounded Rectangle 16"/>
          <p:cNvSpPr/>
          <p:nvPr/>
        </p:nvSpPr>
        <p:spPr>
          <a:xfrm>
            <a:off x="7763256" y="2011680"/>
            <a:ext cx="3767328" cy="211226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63256" y="2011680"/>
            <a:ext cx="59436" cy="2112264"/>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64424" y="2176272"/>
            <a:ext cx="3364992"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Entrada e display</a:t>
            </a:r>
          </a:p>
        </p:txBody>
      </p:sp>
      <p:sp>
        <p:nvSpPr>
          <p:cNvPr id="20" name="TextBox 19"/>
          <p:cNvSpPr txBox="1"/>
          <p:nvPr/>
        </p:nvSpPr>
        <p:spPr>
          <a:xfrm>
            <a:off x="7964424" y="2843784"/>
            <a:ext cx="3364992" cy="1143000"/>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Edição de segundos.</a:t>
            </a:r>
          </a:p>
          <a:p>
            <a:pPr>
              <a:spcBef>
                <a:spcPts val="0"/>
              </a:spcBef>
              <a:spcAft>
                <a:spcPts val="800"/>
              </a:spcAft>
              <a:defRPr sz="1800" b="0">
                <a:solidFill>
                  <a:srgbClr val="586977"/>
                </a:solidFill>
                <a:latin typeface="DejaVu Sans"/>
              </a:defRPr>
            </a:pPr>
            <a:r>
              <a:t>Debounce e clique longo.</a:t>
            </a:r>
          </a:p>
          <a:p>
            <a:pPr>
              <a:spcBef>
                <a:spcPts val="0"/>
              </a:spcBef>
              <a:spcAft>
                <a:spcPts val="800"/>
              </a:spcAft>
              <a:defRPr sz="1800" b="0">
                <a:solidFill>
                  <a:srgbClr val="586977"/>
                </a:solidFill>
                <a:latin typeface="DejaVu Sans"/>
              </a:defRPr>
            </a:pPr>
            <a:r>
              <a:t>Limites do LCD 16×2.</a:t>
            </a:r>
          </a:p>
        </p:txBody>
      </p:sp>
      <p:sp>
        <p:nvSpPr>
          <p:cNvPr id="21" name="Rounded Rectangle 20"/>
          <p:cNvSpPr/>
          <p:nvPr/>
        </p:nvSpPr>
        <p:spPr>
          <a:xfrm>
            <a:off x="603504" y="4425696"/>
            <a:ext cx="10927080" cy="120700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608576"/>
            <a:ext cx="10396728" cy="475488"/>
          </a:xfrm>
          <a:prstGeom prst="rect">
            <a:avLst/>
          </a:prstGeom>
          <a:noFill/>
        </p:spPr>
        <p:txBody>
          <a:bodyPr wrap="square" lIns="0" rIns="0" tIns="0" bIns="0">
            <a:spAutoFit/>
          </a:bodyPr>
          <a:lstStyle/>
          <a:p>
            <a:pPr algn="ctr">
              <a:spcBef>
                <a:spcPts val="0"/>
              </a:spcBef>
              <a:spcAft>
                <a:spcPts val="800"/>
              </a:spcAft>
              <a:defRPr sz="2300" b="1">
                <a:solidFill>
                  <a:srgbClr val="172A3A"/>
                </a:solidFill>
                <a:latin typeface="DejaVu Sans"/>
              </a:defRPr>
            </a:pPr>
            <a:r>
              <a:t>18.388 bytes de programa  ·  729 bytes de SRAM estática</a:t>
            </a:r>
          </a:p>
        </p:txBody>
      </p:sp>
      <p:sp>
        <p:nvSpPr>
          <p:cNvPr id="23" name="TextBox 22"/>
          <p:cNvSpPr txBox="1"/>
          <p:nvPr/>
        </p:nvSpPr>
        <p:spPr>
          <a:xfrm>
            <a:off x="868680" y="5276088"/>
            <a:ext cx="10396728" cy="256032"/>
          </a:xfrm>
          <a:prstGeom prst="rect">
            <a:avLst/>
          </a:prstGeom>
          <a:noFill/>
        </p:spPr>
        <p:txBody>
          <a:bodyPr wrap="square" lIns="0" rIns="0" tIns="0" bIns="0">
            <a:spAutoFit/>
          </a:bodyPr>
          <a:lstStyle/>
          <a:p>
            <a:pPr algn="ctr">
              <a:spcBef>
                <a:spcPts val="0"/>
              </a:spcBef>
              <a:spcAft>
                <a:spcPts val="800"/>
              </a:spcAft>
              <a:defRPr sz="1200" b="0">
                <a:solidFill>
                  <a:srgbClr val="586977"/>
                </a:solidFill>
                <a:latin typeface="DejaVu Sans"/>
              </a:defRPr>
            </a:pPr>
            <a:r>
              <a:t>Pilhas e filas acrescentam alocação em execução; o ensaio temporal do núcleo usa contagens nominais.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263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F6C644"/>
                </a:solidFill>
                <a:latin typeface="DejaVu Sans"/>
              </a:defRPr>
            </a:pPr>
            <a:r>
              <a:t>12 · ENCERRAMENTO</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FFFFFF"/>
                </a:solidFill>
                <a:latin typeface="DejaVu Sans"/>
              </a:defRPr>
            </a:pPr>
            <a:r>
              <a:t>Demonstração: configurar, disparar e adiar</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CBD8E3"/>
                </a:solidFill>
                <a:latin typeface="DejaVu Sans"/>
              </a:defRPr>
            </a:pPr>
            <a:r>
              <a:t>O projeto integra tarefas, eventos e interrupções em uma interface autônoma.</a:t>
            </a:r>
          </a:p>
        </p:txBody>
      </p:sp>
      <p:sp>
        <p:nvSpPr>
          <p:cNvPr id="6" name="Rectangle 5"/>
          <p:cNvSpPr/>
          <p:nvPr/>
        </p:nvSpPr>
        <p:spPr>
          <a:xfrm>
            <a:off x="548640" y="6409944"/>
            <a:ext cx="11064240" cy="10972"/>
          </a:xfrm>
          <a:prstGeom prst="rect">
            <a:avLst/>
          </a:prstGeom>
          <a:solidFill>
            <a:srgbClr val="4B62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CBD8E3"/>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CBD8E3"/>
                </a:solidFill>
                <a:latin typeface="DejaVu Sans"/>
              </a:defRPr>
            </a:pPr>
            <a:r>
              <a:t>13  /  16</a:t>
            </a:r>
          </a:p>
        </p:txBody>
      </p:sp>
      <p:sp>
        <p:nvSpPr>
          <p:cNvPr id="9" name="Rounded Rectangle 8"/>
          <p:cNvSpPr/>
          <p:nvPr/>
        </p:nvSpPr>
        <p:spPr>
          <a:xfrm>
            <a:off x="621792" y="2103120"/>
            <a:ext cx="502920" cy="329184"/>
          </a:xfrm>
          <a:prstGeom prst="roundRect">
            <a:avLst>
              <a:gd name="adj" fmla="val 10000"/>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 y="2162556"/>
            <a:ext cx="265176" cy="228600"/>
          </a:xfrm>
          <a:prstGeom prst="rect">
            <a:avLst/>
          </a:prstGeom>
          <a:noFill/>
        </p:spPr>
        <p:txBody>
          <a:bodyPr wrap="square" lIns="0" rIns="0" tIns="0" bIns="0">
            <a:spAutoFit/>
          </a:bodyPr>
          <a:lstStyle/>
          <a:p>
            <a:pPr>
              <a:spcBef>
                <a:spcPts val="0"/>
              </a:spcBef>
              <a:spcAft>
                <a:spcPts val="800"/>
              </a:spcAft>
              <a:defRPr sz="1100" b="1">
                <a:solidFill>
                  <a:srgbClr val="142638"/>
                </a:solidFill>
                <a:latin typeface="DejaVu Sans"/>
              </a:defRPr>
            </a:pPr>
            <a:r>
              <a:t>1</a:t>
            </a:r>
          </a:p>
        </p:txBody>
      </p:sp>
      <p:sp>
        <p:nvSpPr>
          <p:cNvPr id="11" name="TextBox 10"/>
          <p:cNvSpPr txBox="1"/>
          <p:nvPr/>
        </p:nvSpPr>
        <p:spPr>
          <a:xfrm>
            <a:off x="1353312" y="2011680"/>
            <a:ext cx="6739128" cy="438912"/>
          </a:xfrm>
          <a:prstGeom prst="rect">
            <a:avLst/>
          </a:prstGeom>
          <a:noFill/>
        </p:spPr>
        <p:txBody>
          <a:bodyPr wrap="square" lIns="0" rIns="0" tIns="0" bIns="0">
            <a:spAutoFit/>
          </a:bodyPr>
          <a:lstStyle/>
          <a:p>
            <a:pPr>
              <a:spcBef>
                <a:spcPts val="0"/>
              </a:spcBef>
              <a:spcAft>
                <a:spcPts val="800"/>
              </a:spcAft>
              <a:defRPr sz="2500" b="1">
                <a:solidFill>
                  <a:srgbClr val="FFFFFF"/>
                </a:solidFill>
                <a:latin typeface="DejaVu Sans"/>
              </a:defRPr>
            </a:pPr>
            <a:r>
              <a:t>Configurar pelo joystick</a:t>
            </a:r>
          </a:p>
        </p:txBody>
      </p:sp>
      <p:sp>
        <p:nvSpPr>
          <p:cNvPr id="12" name="TextBox 11"/>
          <p:cNvSpPr txBox="1"/>
          <p:nvPr/>
        </p:nvSpPr>
        <p:spPr>
          <a:xfrm>
            <a:off x="1362456" y="2606040"/>
            <a:ext cx="6739128" cy="420624"/>
          </a:xfrm>
          <a:prstGeom prst="rect">
            <a:avLst/>
          </a:prstGeom>
          <a:noFill/>
        </p:spPr>
        <p:txBody>
          <a:bodyPr wrap="square" lIns="0" rIns="0" tIns="0" bIns="0">
            <a:spAutoFit/>
          </a:bodyPr>
          <a:lstStyle/>
          <a:p>
            <a:pPr>
              <a:spcBef>
                <a:spcPts val="0"/>
              </a:spcBef>
              <a:spcAft>
                <a:spcPts val="800"/>
              </a:spcAft>
              <a:defRPr sz="1800" b="0">
                <a:solidFill>
                  <a:srgbClr val="CBD8E3"/>
                </a:solidFill>
                <a:latin typeface="DejaVu Sans"/>
              </a:defRPr>
            </a:pPr>
            <a:r>
              <a:t>Hora, segundos, alarme e soneca.</a:t>
            </a:r>
          </a:p>
        </p:txBody>
      </p:sp>
      <p:sp>
        <p:nvSpPr>
          <p:cNvPr id="13" name="Rounded Rectangle 12"/>
          <p:cNvSpPr/>
          <p:nvPr/>
        </p:nvSpPr>
        <p:spPr>
          <a:xfrm>
            <a:off x="621792" y="3346704"/>
            <a:ext cx="502920" cy="329184"/>
          </a:xfrm>
          <a:prstGeom prst="roundRect">
            <a:avLst>
              <a:gd name="adj" fmla="val 10000"/>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3406140"/>
            <a:ext cx="265176" cy="228600"/>
          </a:xfrm>
          <a:prstGeom prst="rect">
            <a:avLst/>
          </a:prstGeom>
          <a:noFill/>
        </p:spPr>
        <p:txBody>
          <a:bodyPr wrap="square" lIns="0" rIns="0" tIns="0" bIns="0">
            <a:spAutoFit/>
          </a:bodyPr>
          <a:lstStyle/>
          <a:p>
            <a:pPr>
              <a:spcBef>
                <a:spcPts val="0"/>
              </a:spcBef>
              <a:spcAft>
                <a:spcPts val="800"/>
              </a:spcAft>
              <a:defRPr sz="1100" b="1">
                <a:solidFill>
                  <a:srgbClr val="142638"/>
                </a:solidFill>
                <a:latin typeface="DejaVu Sans"/>
              </a:defRPr>
            </a:pPr>
            <a:r>
              <a:t>2</a:t>
            </a:r>
          </a:p>
        </p:txBody>
      </p:sp>
      <p:sp>
        <p:nvSpPr>
          <p:cNvPr id="15" name="TextBox 14"/>
          <p:cNvSpPr txBox="1"/>
          <p:nvPr/>
        </p:nvSpPr>
        <p:spPr>
          <a:xfrm>
            <a:off x="1353312" y="3255264"/>
            <a:ext cx="6739128" cy="438912"/>
          </a:xfrm>
          <a:prstGeom prst="rect">
            <a:avLst/>
          </a:prstGeom>
          <a:noFill/>
        </p:spPr>
        <p:txBody>
          <a:bodyPr wrap="square" lIns="0" rIns="0" tIns="0" bIns="0">
            <a:spAutoFit/>
          </a:bodyPr>
          <a:lstStyle/>
          <a:p>
            <a:pPr>
              <a:spcBef>
                <a:spcPts val="0"/>
              </a:spcBef>
              <a:spcAft>
                <a:spcPts val="800"/>
              </a:spcAft>
              <a:defRPr sz="2500" b="1">
                <a:solidFill>
                  <a:srgbClr val="FFFFFF"/>
                </a:solidFill>
                <a:latin typeface="DejaVu Sans"/>
              </a:defRPr>
            </a:pPr>
            <a:r>
              <a:t>Observar o disparo</a:t>
            </a:r>
          </a:p>
        </p:txBody>
      </p:sp>
      <p:sp>
        <p:nvSpPr>
          <p:cNvPr id="16" name="TextBox 15"/>
          <p:cNvSpPr txBox="1"/>
          <p:nvPr/>
        </p:nvSpPr>
        <p:spPr>
          <a:xfrm>
            <a:off x="1362456" y="3849624"/>
            <a:ext cx="6739128" cy="420624"/>
          </a:xfrm>
          <a:prstGeom prst="rect">
            <a:avLst/>
          </a:prstGeom>
          <a:noFill/>
        </p:spPr>
        <p:txBody>
          <a:bodyPr wrap="square" lIns="0" rIns="0" tIns="0" bIns="0">
            <a:spAutoFit/>
          </a:bodyPr>
          <a:lstStyle/>
          <a:p>
            <a:pPr>
              <a:spcBef>
                <a:spcPts val="0"/>
              </a:spcBef>
              <a:spcAft>
                <a:spcPts val="800"/>
              </a:spcAft>
              <a:defRPr sz="1800" b="0">
                <a:solidFill>
                  <a:srgbClr val="CBD8E3"/>
                </a:solidFill>
                <a:latin typeface="DejaVu Sans"/>
              </a:defRPr>
            </a:pPr>
            <a:r>
              <a:t>Mensagem no LCD, LED e buzzer.</a:t>
            </a:r>
          </a:p>
        </p:txBody>
      </p:sp>
      <p:sp>
        <p:nvSpPr>
          <p:cNvPr id="17" name="Rounded Rectangle 16"/>
          <p:cNvSpPr/>
          <p:nvPr/>
        </p:nvSpPr>
        <p:spPr>
          <a:xfrm>
            <a:off x="621792" y="4590288"/>
            <a:ext cx="502920" cy="329184"/>
          </a:xfrm>
          <a:prstGeom prst="roundRect">
            <a:avLst>
              <a:gd name="adj" fmla="val 10000"/>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4649724"/>
            <a:ext cx="265176" cy="228600"/>
          </a:xfrm>
          <a:prstGeom prst="rect">
            <a:avLst/>
          </a:prstGeom>
          <a:noFill/>
        </p:spPr>
        <p:txBody>
          <a:bodyPr wrap="square" lIns="0" rIns="0" tIns="0" bIns="0">
            <a:spAutoFit/>
          </a:bodyPr>
          <a:lstStyle/>
          <a:p>
            <a:pPr>
              <a:spcBef>
                <a:spcPts val="0"/>
              </a:spcBef>
              <a:spcAft>
                <a:spcPts val="800"/>
              </a:spcAft>
              <a:defRPr sz="1100" b="1">
                <a:solidFill>
                  <a:srgbClr val="142638"/>
                </a:solidFill>
                <a:latin typeface="DejaVu Sans"/>
              </a:defRPr>
            </a:pPr>
            <a:r>
              <a:t>3</a:t>
            </a:r>
          </a:p>
        </p:txBody>
      </p:sp>
      <p:sp>
        <p:nvSpPr>
          <p:cNvPr id="19" name="TextBox 18"/>
          <p:cNvSpPr txBox="1"/>
          <p:nvPr/>
        </p:nvSpPr>
        <p:spPr>
          <a:xfrm>
            <a:off x="1353312" y="4498848"/>
            <a:ext cx="6739128" cy="438912"/>
          </a:xfrm>
          <a:prstGeom prst="rect">
            <a:avLst/>
          </a:prstGeom>
          <a:noFill/>
        </p:spPr>
        <p:txBody>
          <a:bodyPr wrap="square" lIns="0" rIns="0" tIns="0" bIns="0">
            <a:spAutoFit/>
          </a:bodyPr>
          <a:lstStyle/>
          <a:p>
            <a:pPr>
              <a:spcBef>
                <a:spcPts val="0"/>
              </a:spcBef>
              <a:spcAft>
                <a:spcPts val="800"/>
              </a:spcAft>
              <a:defRPr sz="2500" b="1">
                <a:solidFill>
                  <a:srgbClr val="FFFFFF"/>
                </a:solidFill>
                <a:latin typeface="DejaVu Sans"/>
              </a:defRPr>
            </a:pPr>
            <a:r>
              <a:t>Acionar D5 e encerrar</a:t>
            </a:r>
          </a:p>
        </p:txBody>
      </p:sp>
      <p:sp>
        <p:nvSpPr>
          <p:cNvPr id="20" name="TextBox 19"/>
          <p:cNvSpPr txBox="1"/>
          <p:nvPr/>
        </p:nvSpPr>
        <p:spPr>
          <a:xfrm>
            <a:off x="1362456" y="5093208"/>
            <a:ext cx="6739128" cy="420624"/>
          </a:xfrm>
          <a:prstGeom prst="rect">
            <a:avLst/>
          </a:prstGeom>
          <a:noFill/>
        </p:spPr>
        <p:txBody>
          <a:bodyPr wrap="square" lIns="0" rIns="0" tIns="0" bIns="0">
            <a:spAutoFit/>
          </a:bodyPr>
          <a:lstStyle/>
          <a:p>
            <a:pPr>
              <a:spcBef>
                <a:spcPts val="0"/>
              </a:spcBef>
              <a:spcAft>
                <a:spcPts val="800"/>
              </a:spcAft>
              <a:defRPr sz="1800" b="0">
                <a:solidFill>
                  <a:srgbClr val="CBD8E3"/>
                </a:solidFill>
                <a:latin typeface="DejaVu Sans"/>
              </a:defRPr>
            </a:pPr>
            <a:r>
              <a:t>Soneca no LCD; SEL longo encerra o aviso.</a:t>
            </a:r>
          </a:p>
        </p:txBody>
      </p:sp>
      <p:pic>
        <p:nvPicPr>
          <p:cNvPr id="21" name="Picture 20" descr="09_edicao_soneca.jpg"/>
          <p:cNvPicPr>
            <a:picLocks noChangeAspect="1"/>
          </p:cNvPicPr>
          <p:nvPr/>
        </p:nvPicPr>
        <p:blipFill>
          <a:blip r:embed="rId2"/>
          <a:stretch>
            <a:fillRect/>
          </a:stretch>
        </p:blipFill>
        <p:spPr>
          <a:xfrm>
            <a:off x="8617991" y="1856231"/>
            <a:ext cx="1847545" cy="410565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147D80"/>
                </a:solidFill>
                <a:latin typeface="DejaVu Sans"/>
              </a:defRPr>
            </a:pPr>
            <a:r>
              <a:t>APOIO A · TEMPORIZAÇÃO</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172A3A"/>
                </a:solidFill>
                <a:latin typeface="DejaVu Sans"/>
              </a:defRPr>
            </a:pPr>
            <a:r>
              <a:t>Timer1: valores e significado dos registradores</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586977"/>
                </a:solidFill>
                <a:latin typeface="DejaVu Sans"/>
              </a:defRPr>
            </a:pPr>
            <a:r>
              <a:t>CTC a 100 Hz · divisão do clock principal de 16 MHz.</a:t>
            </a:r>
          </a:p>
        </p:txBody>
      </p:sp>
      <p:sp>
        <p:nvSpPr>
          <p:cNvPr id="6" name="Rectangle 5"/>
          <p:cNvSpPr/>
          <p:nvPr/>
        </p:nvSpPr>
        <p:spPr>
          <a:xfrm>
            <a:off x="548640" y="6409944"/>
            <a:ext cx="11064240" cy="10972"/>
          </a:xfrm>
          <a:prstGeom prst="rect">
            <a:avLst/>
          </a:prstGeom>
          <a:solidFill>
            <a:srgbClr val="CCD7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586977"/>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586977"/>
                </a:solidFill>
                <a:latin typeface="DejaVu Sans"/>
              </a:defRPr>
            </a:pPr>
            <a:r>
              <a:t>14  /  16</a:t>
            </a:r>
          </a:p>
        </p:txBody>
      </p:sp>
      <p:sp>
        <p:nvSpPr>
          <p:cNvPr id="9" name="TextBox 8"/>
          <p:cNvSpPr txBox="1"/>
          <p:nvPr/>
        </p:nvSpPr>
        <p:spPr>
          <a:xfrm>
            <a:off x="548640" y="6153912"/>
            <a:ext cx="10972800" cy="182880"/>
          </a:xfrm>
          <a:prstGeom prst="rect">
            <a:avLst/>
          </a:prstGeom>
          <a:noFill/>
        </p:spPr>
        <p:txBody>
          <a:bodyPr wrap="square" lIns="0" rIns="0" tIns="0" bIns="0">
            <a:spAutoFit/>
          </a:bodyPr>
          <a:lstStyle/>
          <a:p>
            <a:pPr>
              <a:spcBef>
                <a:spcPts val="0"/>
              </a:spcBef>
              <a:spcAft>
                <a:spcPts val="800"/>
              </a:spcAft>
              <a:defRPr sz="950" b="0">
                <a:solidFill>
                  <a:srgbClr val="586977"/>
                </a:solidFill>
                <a:latin typeface="DejaVu Sans"/>
              </a:defRPr>
            </a:pPr>
            <a:r>
              <a:t>Fonte: iniciarTempo() · RelogioFinal.ino</a:t>
            </a:r>
          </a:p>
        </p:txBody>
      </p:sp>
      <p:sp>
        <p:nvSpPr>
          <p:cNvPr id="10" name="Rectangle 9"/>
          <p:cNvSpPr/>
          <p:nvPr/>
        </p:nvSpPr>
        <p:spPr>
          <a:xfrm>
            <a:off x="603504" y="1901952"/>
            <a:ext cx="109728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002536"/>
            <a:ext cx="3813048" cy="320040"/>
          </a:xfrm>
          <a:prstGeom prst="rect">
            <a:avLst/>
          </a:prstGeom>
          <a:noFill/>
        </p:spPr>
        <p:txBody>
          <a:bodyPr wrap="square" lIns="0" rIns="0" tIns="0" bIns="0">
            <a:spAutoFit/>
          </a:bodyPr>
          <a:lstStyle/>
          <a:p>
            <a:pPr>
              <a:spcBef>
                <a:spcPts val="0"/>
              </a:spcBef>
              <a:spcAft>
                <a:spcPts val="200"/>
              </a:spcAft>
              <a:defRPr sz="1600" b="1">
                <a:solidFill>
                  <a:srgbClr val="172A3A"/>
                </a:solidFill>
                <a:latin typeface="DejaVu Sans Mono"/>
              </a:defRPr>
            </a:pPr>
            <a:r>
              <a:t>TCCR1A = 0</a:t>
            </a:r>
          </a:p>
        </p:txBody>
      </p:sp>
      <p:sp>
        <p:nvSpPr>
          <p:cNvPr id="12" name="TextBox 11"/>
          <p:cNvSpPr txBox="1"/>
          <p:nvPr/>
        </p:nvSpPr>
        <p:spPr>
          <a:xfrm>
            <a:off x="4928616" y="1993392"/>
            <a:ext cx="6400800" cy="329184"/>
          </a:xfrm>
          <a:prstGeom prst="rect">
            <a:avLst/>
          </a:prstGeom>
          <a:noFill/>
        </p:spPr>
        <p:txBody>
          <a:bodyPr wrap="square" lIns="0" rIns="0" tIns="0" bIns="0">
            <a:spAutoFit/>
          </a:bodyPr>
          <a:lstStyle/>
          <a:p>
            <a:pPr>
              <a:spcBef>
                <a:spcPts val="0"/>
              </a:spcBef>
              <a:spcAft>
                <a:spcPts val="800"/>
              </a:spcAft>
              <a:defRPr sz="1700" b="0">
                <a:solidFill>
                  <a:srgbClr val="586977"/>
                </a:solidFill>
                <a:latin typeface="DejaVu Sans"/>
              </a:defRPr>
            </a:pPr>
            <a:r>
              <a:t>Desconecta as saídas OC1 do controle do timer.</a:t>
            </a:r>
          </a:p>
        </p:txBody>
      </p:sp>
      <p:sp>
        <p:nvSpPr>
          <p:cNvPr id="13" name="Rectangle 12"/>
          <p:cNvSpPr/>
          <p:nvPr/>
        </p:nvSpPr>
        <p:spPr>
          <a:xfrm>
            <a:off x="603504" y="2432304"/>
            <a:ext cx="10972800" cy="484632"/>
          </a:xfrm>
          <a:prstGeom prst="rect">
            <a:avLst/>
          </a:prstGeom>
          <a:solidFill>
            <a:srgbClr val="E8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2532888"/>
            <a:ext cx="3813048" cy="320040"/>
          </a:xfrm>
          <a:prstGeom prst="rect">
            <a:avLst/>
          </a:prstGeom>
          <a:noFill/>
        </p:spPr>
        <p:txBody>
          <a:bodyPr wrap="square" lIns="0" rIns="0" tIns="0" bIns="0">
            <a:spAutoFit/>
          </a:bodyPr>
          <a:lstStyle/>
          <a:p>
            <a:pPr>
              <a:spcBef>
                <a:spcPts val="0"/>
              </a:spcBef>
              <a:spcAft>
                <a:spcPts val="200"/>
              </a:spcAft>
              <a:defRPr sz="1600" b="1">
                <a:solidFill>
                  <a:srgbClr val="172A3A"/>
                </a:solidFill>
                <a:latin typeface="DejaVu Sans Mono"/>
              </a:defRPr>
            </a:pPr>
            <a:r>
              <a:t>TCCR1B: WGM12</a:t>
            </a:r>
          </a:p>
        </p:txBody>
      </p:sp>
      <p:sp>
        <p:nvSpPr>
          <p:cNvPr id="15" name="TextBox 14"/>
          <p:cNvSpPr txBox="1"/>
          <p:nvPr/>
        </p:nvSpPr>
        <p:spPr>
          <a:xfrm>
            <a:off x="4928616" y="2523744"/>
            <a:ext cx="6400800" cy="329184"/>
          </a:xfrm>
          <a:prstGeom prst="rect">
            <a:avLst/>
          </a:prstGeom>
          <a:noFill/>
        </p:spPr>
        <p:txBody>
          <a:bodyPr wrap="square" lIns="0" rIns="0" tIns="0" bIns="0">
            <a:spAutoFit/>
          </a:bodyPr>
          <a:lstStyle/>
          <a:p>
            <a:pPr>
              <a:spcBef>
                <a:spcPts val="0"/>
              </a:spcBef>
              <a:spcAft>
                <a:spcPts val="800"/>
              </a:spcAft>
              <a:defRPr sz="1700" b="0">
                <a:solidFill>
                  <a:srgbClr val="586977"/>
                </a:solidFill>
                <a:latin typeface="DejaVu Sans"/>
              </a:defRPr>
            </a:pPr>
            <a:r>
              <a:t>Seleciona CTC.</a:t>
            </a:r>
          </a:p>
        </p:txBody>
      </p:sp>
      <p:sp>
        <p:nvSpPr>
          <p:cNvPr id="16" name="Rectangle 15"/>
          <p:cNvSpPr/>
          <p:nvPr/>
        </p:nvSpPr>
        <p:spPr>
          <a:xfrm>
            <a:off x="603504" y="2962656"/>
            <a:ext cx="109728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063240"/>
            <a:ext cx="3813048" cy="320040"/>
          </a:xfrm>
          <a:prstGeom prst="rect">
            <a:avLst/>
          </a:prstGeom>
          <a:noFill/>
        </p:spPr>
        <p:txBody>
          <a:bodyPr wrap="square" lIns="0" rIns="0" tIns="0" bIns="0">
            <a:spAutoFit/>
          </a:bodyPr>
          <a:lstStyle/>
          <a:p>
            <a:pPr>
              <a:spcBef>
                <a:spcPts val="0"/>
              </a:spcBef>
              <a:spcAft>
                <a:spcPts val="200"/>
              </a:spcAft>
              <a:defRPr sz="1600" b="1">
                <a:solidFill>
                  <a:srgbClr val="172A3A"/>
                </a:solidFill>
                <a:latin typeface="DejaVu Sans Mono"/>
              </a:defRPr>
            </a:pPr>
            <a:r>
              <a:t>TCCR1B: CS11 | CS10</a:t>
            </a:r>
          </a:p>
        </p:txBody>
      </p:sp>
      <p:sp>
        <p:nvSpPr>
          <p:cNvPr id="18" name="TextBox 17"/>
          <p:cNvSpPr txBox="1"/>
          <p:nvPr/>
        </p:nvSpPr>
        <p:spPr>
          <a:xfrm>
            <a:off x="4928616" y="3054096"/>
            <a:ext cx="6400800" cy="329184"/>
          </a:xfrm>
          <a:prstGeom prst="rect">
            <a:avLst/>
          </a:prstGeom>
          <a:noFill/>
        </p:spPr>
        <p:txBody>
          <a:bodyPr wrap="square" lIns="0" rIns="0" tIns="0" bIns="0">
            <a:spAutoFit/>
          </a:bodyPr>
          <a:lstStyle/>
          <a:p>
            <a:pPr>
              <a:spcBef>
                <a:spcPts val="0"/>
              </a:spcBef>
              <a:spcAft>
                <a:spcPts val="800"/>
              </a:spcAft>
              <a:defRPr sz="1700" b="0">
                <a:solidFill>
                  <a:srgbClr val="586977"/>
                </a:solidFill>
                <a:latin typeface="DejaVu Sans"/>
              </a:defRPr>
            </a:pPr>
            <a:r>
              <a:t>Seleciona prescaler 64.</a:t>
            </a:r>
          </a:p>
        </p:txBody>
      </p:sp>
      <p:sp>
        <p:nvSpPr>
          <p:cNvPr id="19" name="Rectangle 18"/>
          <p:cNvSpPr/>
          <p:nvPr/>
        </p:nvSpPr>
        <p:spPr>
          <a:xfrm>
            <a:off x="603504" y="3493008"/>
            <a:ext cx="10972800" cy="484632"/>
          </a:xfrm>
          <a:prstGeom prst="rect">
            <a:avLst/>
          </a:prstGeom>
          <a:solidFill>
            <a:srgbClr val="E8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593591"/>
            <a:ext cx="3813048" cy="320040"/>
          </a:xfrm>
          <a:prstGeom prst="rect">
            <a:avLst/>
          </a:prstGeom>
          <a:noFill/>
        </p:spPr>
        <p:txBody>
          <a:bodyPr wrap="square" lIns="0" rIns="0" tIns="0" bIns="0">
            <a:spAutoFit/>
          </a:bodyPr>
          <a:lstStyle/>
          <a:p>
            <a:pPr>
              <a:spcBef>
                <a:spcPts val="0"/>
              </a:spcBef>
              <a:spcAft>
                <a:spcPts val="200"/>
              </a:spcAft>
              <a:defRPr sz="1600" b="1">
                <a:solidFill>
                  <a:srgbClr val="172A3A"/>
                </a:solidFill>
                <a:latin typeface="DejaVu Sans Mono"/>
              </a:defRPr>
            </a:pPr>
            <a:r>
              <a:t>OCR1A = 2499</a:t>
            </a:r>
          </a:p>
        </p:txBody>
      </p:sp>
      <p:sp>
        <p:nvSpPr>
          <p:cNvPr id="21" name="TextBox 20"/>
          <p:cNvSpPr txBox="1"/>
          <p:nvPr/>
        </p:nvSpPr>
        <p:spPr>
          <a:xfrm>
            <a:off x="4928616" y="3584448"/>
            <a:ext cx="6400800" cy="329184"/>
          </a:xfrm>
          <a:prstGeom prst="rect">
            <a:avLst/>
          </a:prstGeom>
          <a:noFill/>
        </p:spPr>
        <p:txBody>
          <a:bodyPr wrap="square" lIns="0" rIns="0" tIns="0" bIns="0">
            <a:spAutoFit/>
          </a:bodyPr>
          <a:lstStyle/>
          <a:p>
            <a:pPr>
              <a:spcBef>
                <a:spcPts val="0"/>
              </a:spcBef>
              <a:spcAft>
                <a:spcPts val="800"/>
              </a:spcAft>
              <a:defRPr sz="1700" b="0">
                <a:solidFill>
                  <a:srgbClr val="586977"/>
                </a:solidFill>
                <a:latin typeface="DejaVu Sans"/>
              </a:defRPr>
            </a:pPr>
            <a:r>
              <a:t>Comparação nominal a 100 Hz.</a:t>
            </a:r>
          </a:p>
        </p:txBody>
      </p:sp>
      <p:sp>
        <p:nvSpPr>
          <p:cNvPr id="22" name="Rectangle 21"/>
          <p:cNvSpPr/>
          <p:nvPr/>
        </p:nvSpPr>
        <p:spPr>
          <a:xfrm>
            <a:off x="603504" y="4023360"/>
            <a:ext cx="109728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123944"/>
            <a:ext cx="3813048" cy="320040"/>
          </a:xfrm>
          <a:prstGeom prst="rect">
            <a:avLst/>
          </a:prstGeom>
          <a:noFill/>
        </p:spPr>
        <p:txBody>
          <a:bodyPr wrap="square" lIns="0" rIns="0" tIns="0" bIns="0">
            <a:spAutoFit/>
          </a:bodyPr>
          <a:lstStyle/>
          <a:p>
            <a:pPr>
              <a:spcBef>
                <a:spcPts val="0"/>
              </a:spcBef>
              <a:spcAft>
                <a:spcPts val="200"/>
              </a:spcAft>
              <a:defRPr sz="1600" b="1">
                <a:solidFill>
                  <a:srgbClr val="172A3A"/>
                </a:solidFill>
                <a:latin typeface="DejaVu Sans Mono"/>
              </a:defRPr>
            </a:pPr>
            <a:r>
              <a:t>TIFR1: OCF1A = 1</a:t>
            </a:r>
          </a:p>
        </p:txBody>
      </p:sp>
      <p:sp>
        <p:nvSpPr>
          <p:cNvPr id="24" name="TextBox 23"/>
          <p:cNvSpPr txBox="1"/>
          <p:nvPr/>
        </p:nvSpPr>
        <p:spPr>
          <a:xfrm>
            <a:off x="4928616" y="4114800"/>
            <a:ext cx="6400800" cy="329184"/>
          </a:xfrm>
          <a:prstGeom prst="rect">
            <a:avLst/>
          </a:prstGeom>
          <a:noFill/>
        </p:spPr>
        <p:txBody>
          <a:bodyPr wrap="square" lIns="0" rIns="0" tIns="0" bIns="0">
            <a:spAutoFit/>
          </a:bodyPr>
          <a:lstStyle/>
          <a:p>
            <a:pPr>
              <a:spcBef>
                <a:spcPts val="0"/>
              </a:spcBef>
              <a:spcAft>
                <a:spcPts val="800"/>
              </a:spcAft>
              <a:defRPr sz="1700" b="0">
                <a:solidFill>
                  <a:srgbClr val="586977"/>
                </a:solidFill>
                <a:latin typeface="DejaVu Sans"/>
              </a:defRPr>
            </a:pPr>
            <a:r>
              <a:t>Limpa uma comparação pendente.</a:t>
            </a:r>
          </a:p>
        </p:txBody>
      </p:sp>
      <p:sp>
        <p:nvSpPr>
          <p:cNvPr id="25" name="Rectangle 24"/>
          <p:cNvSpPr/>
          <p:nvPr/>
        </p:nvSpPr>
        <p:spPr>
          <a:xfrm>
            <a:off x="603504" y="4553712"/>
            <a:ext cx="10972800" cy="484632"/>
          </a:xfrm>
          <a:prstGeom prst="rect">
            <a:avLst/>
          </a:prstGeom>
          <a:solidFill>
            <a:srgbClr val="E8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4654296"/>
            <a:ext cx="3813048" cy="320040"/>
          </a:xfrm>
          <a:prstGeom prst="rect">
            <a:avLst/>
          </a:prstGeom>
          <a:noFill/>
        </p:spPr>
        <p:txBody>
          <a:bodyPr wrap="square" lIns="0" rIns="0" tIns="0" bIns="0">
            <a:spAutoFit/>
          </a:bodyPr>
          <a:lstStyle/>
          <a:p>
            <a:pPr>
              <a:spcBef>
                <a:spcPts val="0"/>
              </a:spcBef>
              <a:spcAft>
                <a:spcPts val="200"/>
              </a:spcAft>
              <a:defRPr sz="1600" b="1">
                <a:solidFill>
                  <a:srgbClr val="172A3A"/>
                </a:solidFill>
                <a:latin typeface="DejaVu Sans Mono"/>
              </a:defRPr>
            </a:pPr>
            <a:r>
              <a:t>TIMSK1: OCIE1A = 1</a:t>
            </a:r>
          </a:p>
        </p:txBody>
      </p:sp>
      <p:sp>
        <p:nvSpPr>
          <p:cNvPr id="27" name="TextBox 26"/>
          <p:cNvSpPr txBox="1"/>
          <p:nvPr/>
        </p:nvSpPr>
        <p:spPr>
          <a:xfrm>
            <a:off x="4928616" y="4645152"/>
            <a:ext cx="6400800" cy="329184"/>
          </a:xfrm>
          <a:prstGeom prst="rect">
            <a:avLst/>
          </a:prstGeom>
          <a:noFill/>
        </p:spPr>
        <p:txBody>
          <a:bodyPr wrap="square" lIns="0" rIns="0" tIns="0" bIns="0">
            <a:spAutoFit/>
          </a:bodyPr>
          <a:lstStyle/>
          <a:p>
            <a:pPr>
              <a:spcBef>
                <a:spcPts val="0"/>
              </a:spcBef>
              <a:spcAft>
                <a:spcPts val="800"/>
              </a:spcAft>
              <a:defRPr sz="1700" b="0">
                <a:solidFill>
                  <a:srgbClr val="586977"/>
                </a:solidFill>
                <a:latin typeface="DejaVu Sans"/>
              </a:defRPr>
            </a:pPr>
            <a:r>
              <a:t>Habilita a interrupção de comparação A.</a:t>
            </a:r>
          </a:p>
        </p:txBody>
      </p:sp>
      <p:sp>
        <p:nvSpPr>
          <p:cNvPr id="28" name="TextBox 27"/>
          <p:cNvSpPr txBox="1"/>
          <p:nvPr/>
        </p:nvSpPr>
        <p:spPr>
          <a:xfrm>
            <a:off x="777240" y="5504688"/>
            <a:ext cx="10744200" cy="484632"/>
          </a:xfrm>
          <a:prstGeom prst="rect">
            <a:avLst/>
          </a:prstGeom>
          <a:noFill/>
        </p:spPr>
        <p:txBody>
          <a:bodyPr wrap="square" lIns="0" rIns="0" tIns="0" bIns="0">
            <a:spAutoFit/>
          </a:bodyPr>
          <a:lstStyle/>
          <a:p>
            <a:pPr>
              <a:spcBef>
                <a:spcPts val="0"/>
              </a:spcBef>
              <a:spcAft>
                <a:spcPts val="800"/>
              </a:spcAft>
              <a:defRPr sz="2100" b="1">
                <a:solidFill>
                  <a:srgbClr val="147D80"/>
                </a:solidFill>
                <a:latin typeface="DejaVu Sans"/>
              </a:defRPr>
            </a:pPr>
            <a:r>
              <a:t>Trocar a divisão para 1 Hz não corrige o erro do mesmo oscilador.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147D80"/>
                </a:solidFill>
                <a:latin typeface="DejaVu Sans"/>
              </a:defRPr>
            </a:pPr>
            <a:r>
              <a:t>APOIO B · CONCORRÊNCIA E MEMÓRIA</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172A3A"/>
                </a:solidFill>
                <a:latin typeface="DejaVu Sans"/>
              </a:defRPr>
            </a:pPr>
            <a:r>
              <a:t>Quatro respostas importantes para a arguição</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586977"/>
                </a:solidFill>
                <a:latin typeface="DejaVu Sans"/>
              </a:defRPr>
            </a:pPr>
            <a:r>
              <a:t>As garantias pertencem à arquitetura completa, não a uma API isolada.</a:t>
            </a:r>
          </a:p>
        </p:txBody>
      </p:sp>
      <p:sp>
        <p:nvSpPr>
          <p:cNvPr id="6" name="Rectangle 5"/>
          <p:cNvSpPr/>
          <p:nvPr/>
        </p:nvSpPr>
        <p:spPr>
          <a:xfrm>
            <a:off x="548640" y="6409944"/>
            <a:ext cx="11064240" cy="10972"/>
          </a:xfrm>
          <a:prstGeom prst="rect">
            <a:avLst/>
          </a:prstGeom>
          <a:solidFill>
            <a:srgbClr val="CCD7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586977"/>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586977"/>
                </a:solidFill>
                <a:latin typeface="DejaVu Sans"/>
              </a:defRPr>
            </a:pPr>
            <a:r>
              <a:t>15  /  16</a:t>
            </a:r>
          </a:p>
        </p:txBody>
      </p:sp>
      <p:sp>
        <p:nvSpPr>
          <p:cNvPr id="9" name="Rounded Rectangle 8"/>
          <p:cNvSpPr/>
          <p:nvPr/>
        </p:nvSpPr>
        <p:spPr>
          <a:xfrm>
            <a:off x="594360" y="1920240"/>
            <a:ext cx="5376672" cy="175564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920240"/>
            <a:ext cx="59436" cy="1755648"/>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84832"/>
            <a:ext cx="4974336"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“Fila elimina qualquer corrida?”</a:t>
            </a:r>
          </a:p>
        </p:txBody>
      </p:sp>
      <p:sp>
        <p:nvSpPr>
          <p:cNvPr id="12" name="TextBox 11"/>
          <p:cNvSpPr txBox="1"/>
          <p:nvPr/>
        </p:nvSpPr>
        <p:spPr>
          <a:xfrm>
            <a:off x="795528" y="2752344"/>
            <a:ext cx="4974336" cy="786383"/>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Não. Dono único + cópia + leitura</a:t>
            </a:r>
          </a:p>
          <a:p>
            <a:pPr>
              <a:spcBef>
                <a:spcPts val="0"/>
              </a:spcBef>
              <a:spcAft>
                <a:spcPts val="800"/>
              </a:spcAft>
              <a:defRPr sz="1800" b="0">
                <a:solidFill>
                  <a:srgbClr val="586977"/>
                </a:solidFill>
                <a:latin typeface="DejaVu Sans"/>
              </a:defRPr>
            </a:pPr>
            <a:r>
              <a:t>atômica sustentam a proteção.</a:t>
            </a:r>
          </a:p>
        </p:txBody>
      </p:sp>
      <p:sp>
        <p:nvSpPr>
          <p:cNvPr id="13" name="Rounded Rectangle 12"/>
          <p:cNvSpPr/>
          <p:nvPr/>
        </p:nvSpPr>
        <p:spPr>
          <a:xfrm>
            <a:off x="6199632" y="1920240"/>
            <a:ext cx="5376672" cy="175564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920240"/>
            <a:ext cx="59436" cy="1755648"/>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084832"/>
            <a:ext cx="4974336"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“Nunca há bloqueio?”</a:t>
            </a:r>
          </a:p>
        </p:txBody>
      </p:sp>
      <p:sp>
        <p:nvSpPr>
          <p:cNvPr id="16" name="TextBox 15"/>
          <p:cNvSpPr txBox="1"/>
          <p:nvPr/>
        </p:nvSpPr>
        <p:spPr>
          <a:xfrm>
            <a:off x="6400800" y="2752344"/>
            <a:ext cx="4974336" cy="786383"/>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Há espera pelo kernel.</a:t>
            </a:r>
          </a:p>
          <a:p>
            <a:pPr>
              <a:spcBef>
                <a:spcPts val="0"/>
              </a:spcBef>
              <a:spcAft>
                <a:spcPts val="800"/>
              </a:spcAft>
              <a:defRPr sz="1800" b="0">
                <a:solidFill>
                  <a:srgbClr val="586977"/>
                </a:solidFill>
                <a:latin typeface="DejaVu Sans"/>
              </a:defRPr>
            </a:pPr>
            <a:r>
              <a:t>Não há espera ocupada nos botões.</a:t>
            </a:r>
          </a:p>
        </p:txBody>
      </p:sp>
      <p:sp>
        <p:nvSpPr>
          <p:cNvPr id="17" name="Rounded Rectangle 16"/>
          <p:cNvSpPr/>
          <p:nvPr/>
        </p:nvSpPr>
        <p:spPr>
          <a:xfrm>
            <a:off x="594360" y="3913632"/>
            <a:ext cx="5376672" cy="175564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3913632"/>
            <a:ext cx="59436" cy="1755648"/>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4078224"/>
            <a:ext cx="4974336"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“E se a entrada ficar cheia?”</a:t>
            </a:r>
          </a:p>
        </p:txBody>
      </p:sp>
      <p:sp>
        <p:nvSpPr>
          <p:cNvPr id="20" name="TextBox 19"/>
          <p:cNvSpPr txBox="1"/>
          <p:nvPr/>
        </p:nvSpPr>
        <p:spPr>
          <a:xfrm>
            <a:off x="795528" y="4745736"/>
            <a:ext cx="4974336" cy="786383"/>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Envio sem espera; perda notificada</a:t>
            </a:r>
          </a:p>
          <a:p>
            <a:pPr>
              <a:spcBef>
                <a:spcPts val="0"/>
              </a:spcBef>
              <a:spcAft>
                <a:spcPts val="800"/>
              </a:spcAft>
              <a:defRPr sz="1800" b="0">
                <a:solidFill>
                  <a:srgbClr val="586977"/>
                </a:solidFill>
                <a:latin typeface="DejaVu Sans"/>
              </a:defRPr>
            </a:pPr>
            <a:r>
              <a:t>e mensagem para repetir o comando.</a:t>
            </a:r>
          </a:p>
        </p:txBody>
      </p:sp>
      <p:sp>
        <p:nvSpPr>
          <p:cNvPr id="21" name="Rounded Rectangle 20"/>
          <p:cNvSpPr/>
          <p:nvPr/>
        </p:nvSpPr>
        <p:spPr>
          <a:xfrm>
            <a:off x="6199632" y="3913632"/>
            <a:ext cx="5376672" cy="175564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3913632"/>
            <a:ext cx="59436" cy="1755648"/>
          </a:xfrm>
          <a:prstGeom prst="rect">
            <a:avLst/>
          </a:prstGeom>
          <a:solidFill>
            <a:srgbClr val="147D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078224"/>
            <a:ext cx="4974336" cy="502920"/>
          </a:xfrm>
          <a:prstGeom prst="rect">
            <a:avLst/>
          </a:prstGeom>
          <a:noFill/>
        </p:spPr>
        <p:txBody>
          <a:bodyPr wrap="square" lIns="0" rIns="0" tIns="0" bIns="0">
            <a:spAutoFit/>
          </a:bodyPr>
          <a:lstStyle/>
          <a:p>
            <a:pPr>
              <a:spcBef>
                <a:spcPts val="0"/>
              </a:spcBef>
              <a:spcAft>
                <a:spcPts val="800"/>
              </a:spcAft>
              <a:defRPr sz="2000" b="1">
                <a:solidFill>
                  <a:srgbClr val="172A3A"/>
                </a:solidFill>
                <a:latin typeface="DejaVu Sans"/>
              </a:defRPr>
            </a:pPr>
            <a:r>
              <a:t>“E a memória das tarefas?”</a:t>
            </a:r>
          </a:p>
        </p:txBody>
      </p:sp>
      <p:sp>
        <p:nvSpPr>
          <p:cNvPr id="24" name="TextBox 23"/>
          <p:cNvSpPr txBox="1"/>
          <p:nvPr/>
        </p:nvSpPr>
        <p:spPr>
          <a:xfrm>
            <a:off x="6400800" y="4745736"/>
            <a:ext cx="4974336" cy="786383"/>
          </a:xfrm>
          <a:prstGeom prst="rect">
            <a:avLst/>
          </a:prstGeom>
          <a:noFill/>
        </p:spPr>
        <p:txBody>
          <a:bodyPr wrap="square" lIns="0" rIns="0" tIns="0" bIns="0">
            <a:spAutoFit/>
          </a:bodyPr>
          <a:lstStyle/>
          <a:p>
            <a:pPr>
              <a:spcBef>
                <a:spcPts val="0"/>
              </a:spcBef>
              <a:spcAft>
                <a:spcPts val="800"/>
              </a:spcAft>
              <a:defRPr sz="1800" b="0">
                <a:solidFill>
                  <a:srgbClr val="586977"/>
                </a:solidFill>
                <a:latin typeface="DejaVu Sans"/>
              </a:defRPr>
            </a:pPr>
            <a:r>
              <a:t>1.568 bytes nas quatro pilhas.</a:t>
            </a:r>
          </a:p>
          <a:p>
            <a:pPr>
              <a:spcBef>
                <a:spcPts val="0"/>
              </a:spcBef>
              <a:spcAft>
                <a:spcPts val="800"/>
              </a:spcAft>
              <a:defRPr sz="1800" b="0">
                <a:solidFill>
                  <a:srgbClr val="586977"/>
                </a:solidFill>
                <a:latin typeface="DejaVu Sans"/>
              </a:defRPr>
            </a:pPr>
            <a:r>
              <a:t>Margem observada por high-water mark.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F6C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9144000" cy="228600"/>
          </a:xfrm>
          <a:prstGeom prst="rect">
            <a:avLst/>
          </a:prstGeom>
          <a:noFill/>
        </p:spPr>
        <p:txBody>
          <a:bodyPr wrap="square" lIns="0" rIns="0" tIns="0" bIns="0">
            <a:spAutoFit/>
          </a:bodyPr>
          <a:lstStyle/>
          <a:p>
            <a:pPr>
              <a:spcBef>
                <a:spcPts val="0"/>
              </a:spcBef>
              <a:spcAft>
                <a:spcPts val="800"/>
              </a:spcAft>
              <a:defRPr sz="1100" b="1">
                <a:solidFill>
                  <a:srgbClr val="147D80"/>
                </a:solidFill>
                <a:latin typeface="DejaVu Sans"/>
              </a:defRPr>
            </a:pPr>
            <a:r>
              <a:t>APOIO C · REFERÊNCIAS</a:t>
            </a:r>
          </a:p>
        </p:txBody>
      </p:sp>
      <p:sp>
        <p:nvSpPr>
          <p:cNvPr id="4" name="TextBox 3"/>
          <p:cNvSpPr txBox="1"/>
          <p:nvPr/>
        </p:nvSpPr>
        <p:spPr>
          <a:xfrm>
            <a:off x="530352" y="704088"/>
            <a:ext cx="11109960" cy="621792"/>
          </a:xfrm>
          <a:prstGeom prst="rect">
            <a:avLst/>
          </a:prstGeom>
          <a:noFill/>
        </p:spPr>
        <p:txBody>
          <a:bodyPr wrap="square" lIns="0" rIns="0" tIns="0" bIns="0">
            <a:spAutoFit/>
          </a:bodyPr>
          <a:lstStyle/>
          <a:p>
            <a:pPr>
              <a:spcBef>
                <a:spcPts val="0"/>
              </a:spcBef>
              <a:spcAft>
                <a:spcPts val="800"/>
              </a:spcAft>
              <a:defRPr sz="2900" b="1">
                <a:solidFill>
                  <a:srgbClr val="172A3A"/>
                </a:solidFill>
                <a:latin typeface="DejaVu Sans"/>
              </a:defRPr>
            </a:pPr>
            <a:r>
              <a:t>Fontes e material da entrega</a:t>
            </a:r>
          </a:p>
        </p:txBody>
      </p:sp>
      <p:sp>
        <p:nvSpPr>
          <p:cNvPr id="5" name="TextBox 4"/>
          <p:cNvSpPr txBox="1"/>
          <p:nvPr/>
        </p:nvSpPr>
        <p:spPr>
          <a:xfrm>
            <a:off x="548640" y="1353312"/>
            <a:ext cx="11018520" cy="457200"/>
          </a:xfrm>
          <a:prstGeom prst="rect">
            <a:avLst/>
          </a:prstGeom>
          <a:noFill/>
        </p:spPr>
        <p:txBody>
          <a:bodyPr wrap="square" lIns="0" rIns="0" tIns="0" bIns="0">
            <a:spAutoFit/>
          </a:bodyPr>
          <a:lstStyle/>
          <a:p>
            <a:pPr>
              <a:spcBef>
                <a:spcPts val="0"/>
              </a:spcBef>
              <a:spcAft>
                <a:spcPts val="800"/>
              </a:spcAft>
              <a:defRPr sz="1500" b="0">
                <a:solidFill>
                  <a:srgbClr val="586977"/>
                </a:solidFill>
                <a:latin typeface="DejaVu Sans"/>
              </a:defRPr>
            </a:pPr>
            <a:r>
              <a:t>A teoria acompanha o código da biblioteca e o firmware efetivamente entregue.</a:t>
            </a:r>
          </a:p>
        </p:txBody>
      </p:sp>
      <p:sp>
        <p:nvSpPr>
          <p:cNvPr id="6" name="Rectangle 5"/>
          <p:cNvSpPr/>
          <p:nvPr/>
        </p:nvSpPr>
        <p:spPr>
          <a:xfrm>
            <a:off x="548640" y="6409944"/>
            <a:ext cx="11064240" cy="10972"/>
          </a:xfrm>
          <a:prstGeom prst="rect">
            <a:avLst/>
          </a:prstGeom>
          <a:solidFill>
            <a:srgbClr val="CCD7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19672"/>
            <a:ext cx="8046720" cy="201168"/>
          </a:xfrm>
          <a:prstGeom prst="rect">
            <a:avLst/>
          </a:prstGeom>
          <a:noFill/>
        </p:spPr>
        <p:txBody>
          <a:bodyPr wrap="square" lIns="0" rIns="0" tIns="0" bIns="0">
            <a:spAutoFit/>
          </a:bodyPr>
          <a:lstStyle/>
          <a:p>
            <a:pPr>
              <a:spcBef>
                <a:spcPts val="0"/>
              </a:spcBef>
              <a:spcAft>
                <a:spcPts val="800"/>
              </a:spcAft>
              <a:defRPr sz="1000" b="0">
                <a:solidFill>
                  <a:srgbClr val="586977"/>
                </a:solidFill>
                <a:latin typeface="DejaVu Sans"/>
              </a:defRPr>
            </a:pPr>
            <a:r>
              <a:t>UTFPR Apucarana  •  Sistemas Embarcados  •  Pedro Reis</a:t>
            </a:r>
          </a:p>
        </p:txBody>
      </p:sp>
      <p:sp>
        <p:nvSpPr>
          <p:cNvPr id="8" name="TextBox 7"/>
          <p:cNvSpPr txBox="1"/>
          <p:nvPr/>
        </p:nvSpPr>
        <p:spPr>
          <a:xfrm>
            <a:off x="10469880" y="6501384"/>
            <a:ext cx="1124712" cy="237744"/>
          </a:xfrm>
          <a:prstGeom prst="rect">
            <a:avLst/>
          </a:prstGeom>
          <a:noFill/>
        </p:spPr>
        <p:txBody>
          <a:bodyPr wrap="square" lIns="0" rIns="0" tIns="0" bIns="0">
            <a:spAutoFit/>
          </a:bodyPr>
          <a:lstStyle/>
          <a:p>
            <a:pPr algn="r">
              <a:spcBef>
                <a:spcPts val="0"/>
              </a:spcBef>
              <a:spcAft>
                <a:spcPts val="800"/>
              </a:spcAft>
              <a:defRPr sz="1100" b="0">
                <a:solidFill>
                  <a:srgbClr val="586977"/>
                </a:solidFill>
                <a:latin typeface="DejaVu Sans"/>
              </a:defRPr>
            </a:pPr>
            <a:r>
              <a:t>16  /  16</a:t>
            </a:r>
          </a:p>
        </p:txBody>
      </p:sp>
      <p:sp>
        <p:nvSpPr>
          <p:cNvPr id="9" name="TextBox 8"/>
          <p:cNvSpPr txBox="1"/>
          <p:nvPr/>
        </p:nvSpPr>
        <p:spPr>
          <a:xfrm>
            <a:off x="704088" y="1865376"/>
            <a:ext cx="10835640" cy="320040"/>
          </a:xfrm>
          <a:prstGeom prst="rect">
            <a:avLst/>
          </a:prstGeom>
          <a:noFill/>
        </p:spPr>
        <p:txBody>
          <a:bodyPr wrap="square" lIns="0" rIns="0" tIns="0" bIns="0">
            <a:spAutoFit/>
          </a:bodyPr>
          <a:lstStyle/>
          <a:p>
            <a:pPr>
              <a:spcBef>
                <a:spcPts val="0"/>
              </a:spcBef>
              <a:spcAft>
                <a:spcPts val="800"/>
              </a:spcAft>
              <a:defRPr sz="2100" b="1">
                <a:solidFill>
                  <a:srgbClr val="172A3A"/>
                </a:solidFill>
                <a:latin typeface="DejaVu Sans"/>
              </a:defRPr>
            </a:pPr>
            <a:r>
              <a:rPr>
                <a:hlinkClick r:id="rId2"/>
              </a:rPr>
              <a:t>Enunciado do exame</a:t>
            </a:r>
          </a:p>
        </p:txBody>
      </p:sp>
      <p:sp>
        <p:nvSpPr>
          <p:cNvPr id="10" name="TextBox 9"/>
          <p:cNvSpPr txBox="1"/>
          <p:nvPr/>
        </p:nvSpPr>
        <p:spPr>
          <a:xfrm>
            <a:off x="713232" y="2240280"/>
            <a:ext cx="10789920" cy="265176"/>
          </a:xfrm>
          <a:prstGeom prst="rect">
            <a:avLst/>
          </a:prstGeom>
          <a:noFill/>
        </p:spPr>
        <p:txBody>
          <a:bodyPr wrap="square" lIns="0" rIns="0" tIns="0" bIns="0">
            <a:spAutoFit/>
          </a:bodyPr>
          <a:lstStyle/>
          <a:p>
            <a:pPr>
              <a:spcBef>
                <a:spcPts val="0"/>
              </a:spcBef>
              <a:spcAft>
                <a:spcPts val="800"/>
              </a:spcAft>
              <a:defRPr sz="1400" b="0">
                <a:solidFill>
                  <a:srgbClr val="586977"/>
                </a:solidFill>
                <a:latin typeface="DejaVu Sans"/>
              </a:defRPr>
            </a:pPr>
            <a:r>
              <a:t>Adalberto Lazarini · UTFPR Apucarana · 2026.2</a:t>
            </a:r>
          </a:p>
        </p:txBody>
      </p:sp>
      <p:sp>
        <p:nvSpPr>
          <p:cNvPr id="11" name="TextBox 10"/>
          <p:cNvSpPr txBox="1"/>
          <p:nvPr/>
        </p:nvSpPr>
        <p:spPr>
          <a:xfrm>
            <a:off x="704088" y="2651760"/>
            <a:ext cx="10835640" cy="320040"/>
          </a:xfrm>
          <a:prstGeom prst="rect">
            <a:avLst/>
          </a:prstGeom>
          <a:noFill/>
        </p:spPr>
        <p:txBody>
          <a:bodyPr wrap="square" lIns="0" rIns="0" tIns="0" bIns="0">
            <a:spAutoFit/>
          </a:bodyPr>
          <a:lstStyle/>
          <a:p>
            <a:pPr>
              <a:spcBef>
                <a:spcPts val="0"/>
              </a:spcBef>
              <a:spcAft>
                <a:spcPts val="800"/>
              </a:spcAft>
              <a:defRPr sz="2100" b="1">
                <a:solidFill>
                  <a:srgbClr val="172A3A"/>
                </a:solidFill>
                <a:latin typeface="DejaVu Sans"/>
              </a:defRPr>
            </a:pPr>
            <a:r>
              <a:rPr>
                <a:hlinkClick r:id="rId3"/>
              </a:rPr>
              <a:t>Arduino FreeRTOS 11.1.0-3</a:t>
            </a:r>
          </a:p>
        </p:txBody>
      </p:sp>
      <p:sp>
        <p:nvSpPr>
          <p:cNvPr id="12" name="TextBox 11"/>
          <p:cNvSpPr txBox="1"/>
          <p:nvPr/>
        </p:nvSpPr>
        <p:spPr>
          <a:xfrm>
            <a:off x="713232" y="3026664"/>
            <a:ext cx="10789920" cy="265176"/>
          </a:xfrm>
          <a:prstGeom prst="rect">
            <a:avLst/>
          </a:prstGeom>
          <a:noFill/>
        </p:spPr>
        <p:txBody>
          <a:bodyPr wrap="square" lIns="0" rIns="0" tIns="0" bIns="0">
            <a:spAutoFit/>
          </a:bodyPr>
          <a:lstStyle/>
          <a:p>
            <a:pPr>
              <a:spcBef>
                <a:spcPts val="0"/>
              </a:spcBef>
              <a:spcAft>
                <a:spcPts val="800"/>
              </a:spcAft>
              <a:defRPr sz="1400" b="0">
                <a:solidFill>
                  <a:srgbClr val="586977"/>
                </a:solidFill>
                <a:latin typeface="DejaVu Sans"/>
              </a:defRPr>
            </a:pPr>
            <a:r>
              <a:t>tasks.c · queue.c · queue.h · FreeRTOSVariant.h</a:t>
            </a:r>
          </a:p>
        </p:txBody>
      </p:sp>
      <p:sp>
        <p:nvSpPr>
          <p:cNvPr id="13" name="TextBox 12"/>
          <p:cNvSpPr txBox="1"/>
          <p:nvPr/>
        </p:nvSpPr>
        <p:spPr>
          <a:xfrm>
            <a:off x="704088" y="3438144"/>
            <a:ext cx="10835640" cy="320040"/>
          </a:xfrm>
          <a:prstGeom prst="rect">
            <a:avLst/>
          </a:prstGeom>
          <a:noFill/>
        </p:spPr>
        <p:txBody>
          <a:bodyPr wrap="square" lIns="0" rIns="0" tIns="0" bIns="0">
            <a:spAutoFit/>
          </a:bodyPr>
          <a:lstStyle/>
          <a:p>
            <a:pPr>
              <a:spcBef>
                <a:spcPts val="0"/>
              </a:spcBef>
              <a:spcAft>
                <a:spcPts val="800"/>
              </a:spcAft>
              <a:defRPr sz="2100" b="1">
                <a:solidFill>
                  <a:srgbClr val="172A3A"/>
                </a:solidFill>
                <a:latin typeface="DejaVu Sans"/>
              </a:defRPr>
            </a:pPr>
            <a:r>
              <a:rPr>
                <a:hlinkClick r:id="rId4"/>
              </a:rPr>
              <a:t>Arduino AVR Core 1.8.8</a:t>
            </a:r>
          </a:p>
        </p:txBody>
      </p:sp>
      <p:sp>
        <p:nvSpPr>
          <p:cNvPr id="14" name="TextBox 13"/>
          <p:cNvSpPr txBox="1"/>
          <p:nvPr/>
        </p:nvSpPr>
        <p:spPr>
          <a:xfrm>
            <a:off x="713232" y="3813048"/>
            <a:ext cx="10789920" cy="265176"/>
          </a:xfrm>
          <a:prstGeom prst="rect">
            <a:avLst/>
          </a:prstGeom>
          <a:noFill/>
        </p:spPr>
        <p:txBody>
          <a:bodyPr wrap="square" lIns="0" rIns="0" tIns="0" bIns="0">
            <a:spAutoFit/>
          </a:bodyPr>
          <a:lstStyle/>
          <a:p>
            <a:pPr>
              <a:spcBef>
                <a:spcPts val="0"/>
              </a:spcBef>
              <a:spcAft>
                <a:spcPts val="800"/>
              </a:spcAft>
              <a:defRPr sz="1400" b="0">
                <a:solidFill>
                  <a:srgbClr val="586977"/>
                </a:solidFill>
                <a:latin typeface="DejaVu Sans"/>
              </a:defRPr>
            </a:pPr>
            <a:r>
              <a:t>wiring.c · Tone.cpp</a:t>
            </a:r>
          </a:p>
        </p:txBody>
      </p:sp>
      <p:sp>
        <p:nvSpPr>
          <p:cNvPr id="15" name="TextBox 14"/>
          <p:cNvSpPr txBox="1"/>
          <p:nvPr/>
        </p:nvSpPr>
        <p:spPr>
          <a:xfrm>
            <a:off x="704088" y="4224528"/>
            <a:ext cx="10835640" cy="320040"/>
          </a:xfrm>
          <a:prstGeom prst="rect">
            <a:avLst/>
          </a:prstGeom>
          <a:noFill/>
        </p:spPr>
        <p:txBody>
          <a:bodyPr wrap="square" lIns="0" rIns="0" tIns="0" bIns="0">
            <a:spAutoFit/>
          </a:bodyPr>
          <a:lstStyle/>
          <a:p>
            <a:pPr>
              <a:spcBef>
                <a:spcPts val="0"/>
              </a:spcBef>
              <a:spcAft>
                <a:spcPts val="800"/>
              </a:spcAft>
              <a:defRPr sz="2100" b="1">
                <a:solidFill>
                  <a:srgbClr val="172A3A"/>
                </a:solidFill>
                <a:latin typeface="DejaVu Sans"/>
              </a:defRPr>
            </a:pPr>
            <a:r>
              <a:rPr>
                <a:hlinkClick r:id="rId5"/>
              </a:rPr>
              <a:t>AVR-LibC e Microchip</a:t>
            </a:r>
          </a:p>
        </p:txBody>
      </p:sp>
      <p:sp>
        <p:nvSpPr>
          <p:cNvPr id="16" name="TextBox 15"/>
          <p:cNvSpPr txBox="1"/>
          <p:nvPr/>
        </p:nvSpPr>
        <p:spPr>
          <a:xfrm>
            <a:off x="713232" y="4599432"/>
            <a:ext cx="10789920" cy="265176"/>
          </a:xfrm>
          <a:prstGeom prst="rect">
            <a:avLst/>
          </a:prstGeom>
          <a:noFill/>
        </p:spPr>
        <p:txBody>
          <a:bodyPr wrap="square" lIns="0" rIns="0" tIns="0" bIns="0">
            <a:spAutoFit/>
          </a:bodyPr>
          <a:lstStyle/>
          <a:p>
            <a:pPr>
              <a:spcBef>
                <a:spcPts val="0"/>
              </a:spcBef>
              <a:spcAft>
                <a:spcPts val="800"/>
              </a:spcAft>
              <a:defRPr sz="1400" b="0">
                <a:solidFill>
                  <a:srgbClr val="586977"/>
                </a:solidFill>
                <a:latin typeface="DejaVu Sans"/>
              </a:defRPr>
            </a:pPr>
            <a:r>
              <a:t>ATOMIC_BLOCK e configuração de interrupções megaAVR</a:t>
            </a:r>
          </a:p>
        </p:txBody>
      </p:sp>
      <p:sp>
        <p:nvSpPr>
          <p:cNvPr id="17" name="TextBox 16"/>
          <p:cNvSpPr txBox="1"/>
          <p:nvPr/>
        </p:nvSpPr>
        <p:spPr>
          <a:xfrm>
            <a:off x="704088" y="5010912"/>
            <a:ext cx="10835640" cy="320040"/>
          </a:xfrm>
          <a:prstGeom prst="rect">
            <a:avLst/>
          </a:prstGeom>
          <a:noFill/>
        </p:spPr>
        <p:txBody>
          <a:bodyPr wrap="square" lIns="0" rIns="0" tIns="0" bIns="0">
            <a:spAutoFit/>
          </a:bodyPr>
          <a:lstStyle/>
          <a:p>
            <a:pPr>
              <a:spcBef>
                <a:spcPts val="0"/>
              </a:spcBef>
              <a:spcAft>
                <a:spcPts val="800"/>
              </a:spcAft>
              <a:defRPr sz="2100" b="1">
                <a:solidFill>
                  <a:srgbClr val="172A3A"/>
                </a:solidFill>
                <a:latin typeface="DejaVu Sans"/>
              </a:defRPr>
            </a:pPr>
            <a:r>
              <a:rPr>
                <a:hlinkClick r:id="rId6"/>
              </a:rPr>
              <a:t>Relatório, firmware e fotografias</a:t>
            </a:r>
          </a:p>
        </p:txBody>
      </p:sp>
      <p:sp>
        <p:nvSpPr>
          <p:cNvPr id="18" name="TextBox 17"/>
          <p:cNvSpPr txBox="1"/>
          <p:nvPr/>
        </p:nvSpPr>
        <p:spPr>
          <a:xfrm>
            <a:off x="713232" y="5385816"/>
            <a:ext cx="10789920" cy="265176"/>
          </a:xfrm>
          <a:prstGeom prst="rect">
            <a:avLst/>
          </a:prstGeom>
          <a:noFill/>
        </p:spPr>
        <p:txBody>
          <a:bodyPr wrap="square" lIns="0" rIns="0" tIns="0" bIns="0">
            <a:spAutoFit/>
          </a:bodyPr>
          <a:lstStyle/>
          <a:p>
            <a:pPr>
              <a:spcBef>
                <a:spcPts val="0"/>
              </a:spcBef>
              <a:spcAft>
                <a:spcPts val="800"/>
              </a:spcAft>
              <a:defRPr sz="1400" b="0">
                <a:solidFill>
                  <a:srgbClr val="586977"/>
                </a:solidFill>
                <a:latin typeface="DejaVu Sans"/>
              </a:defRPr>
            </a:pPr>
            <a:r>
              <a:t>github.com/plreis/Sistemas-Embarcados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Relógio e alarme com FreeRTOS</dc:title>
  <dc:subject>Exame de Suficiência — Sistemas Embarcados 2026.2</dc:subject>
  <dc:creator>Pedro Lucas dos Reis Silva</dc:creator>
  <cp:keywords>ATmega2560, FreeRTOS, filas, Timer1, suficiência</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